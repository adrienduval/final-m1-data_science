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504950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1081088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981075"/>
            <a:ext cx="24906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 INTELLIGENCE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086654" y="966788"/>
            <a:ext cx="45969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08" kern="0" dirty="0">
                <a:solidFill>
                  <a:srgbClr val="6B6862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 DATA SCIENCE &amp; IA · 2025–2026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1161" y="838200"/>
            <a:ext cx="1519089" cy="4953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750" y="3134916"/>
            <a:ext cx="74287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 DE FIN DE MODULE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7750" y="3601641"/>
            <a:ext cx="7428731" cy="2211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300" spc="-325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</a:t>
            </a:r>
            <a:pPr algn="l" indent="0" marL="0">
              <a:lnSpc>
                <a:spcPct val="92000"/>
              </a:lnSpc>
              <a:buNone/>
            </a:pPr>
            <a:r>
              <a:rPr lang="en-US" sz="9300" i="1" spc="-325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Intelligence.</a:t>
            </a:r>
            <a:endParaRPr lang="en-US" sz="9300" dirty="0"/>
          </a:p>
        </p:txBody>
      </p:sp>
      <p:sp>
        <p:nvSpPr>
          <p:cNvPr id="9" name="Text 6"/>
          <p:cNvSpPr/>
          <p:nvPr/>
        </p:nvSpPr>
        <p:spPr>
          <a:xfrm>
            <a:off x="1047750" y="6117729"/>
            <a:ext cx="7428731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i="1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Optimisation du retour sur investissement marketing — par le Machine Learning.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1047750" y="7466409"/>
            <a:ext cx="233942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CHUEMBOU ADRIEN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768179" y="7485459"/>
            <a:ext cx="22711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376291" y="7466409"/>
            <a:ext cx="14341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QUANG DAT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945910" y="3185368"/>
            <a:ext cx="8294191" cy="4525714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  <a:effectLst>
            <a:outerShdw sx="100000" sy="100000" kx="0" ky="0" algn="bl" rotWithShape="0" blurRad="101600" dist="9525" dir="5400000">
              <a:srgbClr val="000000">
                <a:alpha val="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955435" y="3194893"/>
            <a:ext cx="8275141" cy="600075"/>
          </a:xfrm>
          <a:prstGeom prst="rect">
            <a:avLst/>
          </a:prstGeom>
          <a:solidFill>
            <a:srgbClr val="FAFAFB"/>
          </a:solidFill>
          <a:ln/>
        </p:spPr>
      </p:sp>
      <p:sp>
        <p:nvSpPr>
          <p:cNvPr id="15" name="Shape 12"/>
          <p:cNvSpPr/>
          <p:nvPr/>
        </p:nvSpPr>
        <p:spPr>
          <a:xfrm>
            <a:off x="8955435" y="3785443"/>
            <a:ext cx="8275141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16" name="Shape 13"/>
          <p:cNvSpPr/>
          <p:nvPr/>
        </p:nvSpPr>
        <p:spPr>
          <a:xfrm>
            <a:off x="9145935" y="3433018"/>
            <a:ext cx="114300" cy="1143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4"/>
          <p:cNvSpPr/>
          <p:nvPr/>
        </p:nvSpPr>
        <p:spPr>
          <a:xfrm>
            <a:off x="9355485" y="3433018"/>
            <a:ext cx="114300" cy="11430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5"/>
          <p:cNvSpPr/>
          <p:nvPr/>
        </p:nvSpPr>
        <p:spPr>
          <a:xfrm>
            <a:off x="9565035" y="3433018"/>
            <a:ext cx="114300" cy="1143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Shape 16"/>
          <p:cNvSpPr/>
          <p:nvPr/>
        </p:nvSpPr>
        <p:spPr>
          <a:xfrm>
            <a:off x="9926985" y="3328243"/>
            <a:ext cx="4667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69860" y="3394918"/>
            <a:ext cx="452151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roiintel.app — /predict</a:t>
            </a:r>
            <a:endParaRPr lang="en-US" sz="13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435" y="3794968"/>
            <a:ext cx="8275141" cy="3906589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9184035" y="7111008"/>
            <a:ext cx="2967633" cy="361950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DDE1E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326910" y="7196733"/>
            <a:ext cx="277091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108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FORECAST · LIVE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047750" y="9191625"/>
            <a:ext cx="99496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SYSTÈME DE PRÉDICTION MULTI-MODÈLES &amp; TABLEAU DE BORD DÉCISIONNEL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11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871538"/>
            <a:ext cx="2797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PROBLÉMATIQUE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523988" y="838200"/>
            <a:ext cx="27977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POURQUOI CE PROJET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CONSTAT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1299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Allouer un budget pub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l'intuition </a:t>
            </a:r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ou à la donnée ?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7750" y="3666530"/>
            <a:ext cx="12753975" cy="842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400" i="1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budgets publicitaires sont encore trop souvent décidés au feeling. L'enjeu : transformer une intuition budgétaire en décision data-driven, mesurable et reproductible.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47750" y="5518845"/>
            <a:ext cx="7829550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10" name="Shape 8"/>
          <p:cNvSpPr/>
          <p:nvPr/>
        </p:nvSpPr>
        <p:spPr>
          <a:xfrm>
            <a:off x="1047750" y="5004495"/>
            <a:ext cx="361950" cy="361950"/>
          </a:xfrm>
          <a:prstGeom prst="ellipse">
            <a:avLst/>
          </a:prstGeom>
          <a:solidFill>
            <a:srgbClr val="E8E1D2"/>
          </a:solidFill>
          <a:ln/>
        </p:spPr>
      </p:sp>
      <p:sp>
        <p:nvSpPr>
          <p:cNvPr id="11" name="Text 9"/>
          <p:cNvSpPr/>
          <p:nvPr/>
        </p:nvSpPr>
        <p:spPr>
          <a:xfrm>
            <a:off x="1009650" y="500449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80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62100" y="5056882"/>
            <a:ext cx="379154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APPROCHE TRADITIONNELLE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14450" y="5737920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 empirique basée sur l'expérience passée.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14450" y="6261348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corrélation mesurée entre budget et revenu.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14450" y="6784777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Décisions prises </a:t>
            </a:r>
            <a:pPr algn="l" indent="0" marL="0">
              <a:lnSpc>
                <a:spcPct val="132000"/>
              </a:lnSpc>
              <a:buNone/>
            </a:pPr>
            <a:r>
              <a:rPr lang="en-US" sz="2100" i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posteriori</a:t>
            </a:r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après les campagnes.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14450" y="7308205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budget, résultats imprévisibles selon les canaux.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14450" y="7831634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de simuler l'impact avant d'engager.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410700" y="5518845"/>
            <a:ext cx="7829550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19" name="Shape 17"/>
          <p:cNvSpPr/>
          <p:nvPr/>
        </p:nvSpPr>
        <p:spPr>
          <a:xfrm>
            <a:off x="9410700" y="5004495"/>
            <a:ext cx="361950" cy="361950"/>
          </a:xfrm>
          <a:prstGeom prst="ellipse">
            <a:avLst/>
          </a:prstGeom>
          <a:solidFill>
            <a:srgbClr val="DDE1ED"/>
          </a:solidFill>
          <a:ln/>
        </p:spPr>
      </p:sp>
      <p:sp>
        <p:nvSpPr>
          <p:cNvPr id="20" name="Text 18"/>
          <p:cNvSpPr/>
          <p:nvPr/>
        </p:nvSpPr>
        <p:spPr>
          <a:xfrm>
            <a:off x="9372600" y="5004495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25050" y="5056882"/>
            <a:ext cx="280234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NOTRE APPROCHE ML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77400" y="5737920"/>
            <a:ext cx="7797737" cy="399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entraînés sur </a:t>
            </a:r>
            <a:pPr algn="l" indent="0" marL="0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4 572 campagnes </a:t>
            </a:r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documentées.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677400" y="6270873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Prédiction du CA en temps réel selon le budget alloué.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677400" y="6794302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canaux : TV · Radio · Social Media · Influenceur.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677400" y="7317730"/>
            <a:ext cx="7797737" cy="399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&gt; 0.994 </a:t>
            </a:r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corrélation quasi-parfaite.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677400" y="7850684"/>
            <a:ext cx="7797737" cy="390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</a:t>
            </a:r>
            <a:pPr algn="l" indent="0" marL="0">
              <a:lnSpc>
                <a:spcPct val="132000"/>
              </a:lnSpc>
              <a:buNone/>
            </a:pPr>
            <a:r>
              <a:rPr lang="en-US" sz="2100" i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</a:t>
            </a:r>
            <a:pPr algn="l" indent="0" marL="0">
              <a:lnSpc>
                <a:spcPct val="132000"/>
              </a:lnSpc>
              <a:buNone/>
            </a:pPr>
            <a:r>
              <a:rPr lang="en-US" sz="21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le revenu s'affiche instantanément.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9139238" y="5004495"/>
            <a:ext cx="9525" cy="3958530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28" name="Text 26"/>
          <p:cNvSpPr/>
          <p:nvPr/>
        </p:nvSpPr>
        <p:spPr>
          <a:xfrm>
            <a:off x="9101138" y="5004495"/>
            <a:ext cx="114300" cy="399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47750" y="9191625"/>
            <a:ext cx="658209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L'ENJEU : DÉCISION MESURABLE, REPRODUCTIBLE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11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871538"/>
            <a:ext cx="218881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OBJECTIFS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411373" y="838200"/>
            <a:ext cx="49737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LA DONNÉE BRUTE À LA DÉCISION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CADRE DU PROJET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ambitions concrètes.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7750" y="3002459"/>
            <a:ext cx="12753975" cy="440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400" i="1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Chacune produit un livrable mesurable — de l'algorithme au tableau de bord.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47750" y="4639121"/>
            <a:ext cx="1118741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i="1" spc="-21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356991" y="4639121"/>
            <a:ext cx="66766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Prédire.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2356991" y="5162996"/>
            <a:ext cx="6676675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Construire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modèles ML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prédisent le chiffre d'affaires à partir du mix budgétaire : TV, Radio, Social Media, Influenceur.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448800" y="4639121"/>
            <a:ext cx="1118741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i="1" spc="-21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10758041" y="4639121"/>
            <a:ext cx="66766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Comparer &amp; sélectionner.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0758041" y="5162996"/>
            <a:ext cx="6676675" cy="1097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Évaluer chaque modèle par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cross-validation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plis (R², MAE, RMSE), puis sélectionner automatiquement le plus performant.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47750" y="6679109"/>
            <a:ext cx="1118741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i="1" spc="-21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2356991" y="6679109"/>
            <a:ext cx="66766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Exposer via API REST.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2356991" y="7202984"/>
            <a:ext cx="6676675" cy="1097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 les modèles entraînés via une API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scalable, interrogeable en temps réel par n'importe quel client.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448800" y="6679109"/>
            <a:ext cx="1118741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i="1" spc="-21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0758041" y="6679109"/>
            <a:ext cx="667667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Visualiser &amp; décider.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10758041" y="7202984"/>
            <a:ext cx="667667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dashboard interactif en </a:t>
            </a:r>
            <a:pPr algn="l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pages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simuler, comparer et optimiser les allocations budgétaires.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047750" y="9191625"/>
            <a:ext cx="59698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LIVRABLES · MODÈLES → API → DASHBOARD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11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871538"/>
            <a:ext cx="26423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69578" y="838200"/>
            <a:ext cx="35747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CINQ COUCHES MODULAIRES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TECHNIQUE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donnée brute à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décision business.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047750" y="3184029"/>
            <a:ext cx="16192500" cy="791468"/>
          </a:xfrm>
          <a:prstGeom prst="roundRect">
            <a:avLst>
              <a:gd name="adj" fmla="val 7221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3975" y="3408313"/>
            <a:ext cx="838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352675" y="3451175"/>
            <a:ext cx="27470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DONNÉES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86375" y="3403104"/>
            <a:ext cx="5630451" cy="391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data/Dummy Data HSS.csv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4 572 lignes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019532" y="3451175"/>
            <a:ext cx="61228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 · RADIO · SOCIAL · INFLUENCER · SALES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4108847"/>
            <a:ext cx="16192500" cy="791468"/>
          </a:xfrm>
          <a:prstGeom prst="roundRect">
            <a:avLst>
              <a:gd name="adj" fmla="val 7221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23975" y="4333131"/>
            <a:ext cx="838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352675" y="4375993"/>
            <a:ext cx="27470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86375" y="4327922"/>
            <a:ext cx="8691865" cy="391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sklearn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StandardScaler + OneHotEncoder · imputation médiane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991779" y="4375993"/>
            <a:ext cx="306141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SRC/PREPROCESSING.PY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7750" y="5033665"/>
            <a:ext cx="16192500" cy="791468"/>
          </a:xfrm>
          <a:prstGeom prst="roundRect">
            <a:avLst>
              <a:gd name="adj" fmla="val 7221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3975" y="5257949"/>
            <a:ext cx="838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2352675" y="5300811"/>
            <a:ext cx="27470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ENTRAÎNEMENT ML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86375" y="5252740"/>
            <a:ext cx="9916369" cy="391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 · 15 iter · 5-fold CV · 4 algorithmes →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.pkl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(joblib)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5180618" y="5300811"/>
            <a:ext cx="18596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SRC/TRAIN.PY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47750" y="5958483"/>
            <a:ext cx="16192500" cy="1144786"/>
          </a:xfrm>
          <a:prstGeom prst="roundRect">
            <a:avLst>
              <a:gd name="adj" fmla="val 4992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3975" y="6359426"/>
            <a:ext cx="838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2352675" y="6402288"/>
            <a:ext cx="27470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REST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86375" y="6177558"/>
            <a:ext cx="8538725" cy="7447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/predict/all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/metrics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/feature-importance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/stats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3843099" y="6402288"/>
            <a:ext cx="321455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API/MAIN.PY · FASTAPI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47750" y="7236619"/>
            <a:ext cx="16192500" cy="1106686"/>
          </a:xfrm>
          <a:prstGeom prst="roundRect">
            <a:avLst>
              <a:gd name="adj" fmla="val 5164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3975" y="7618512"/>
            <a:ext cx="838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2352675" y="7661374"/>
            <a:ext cx="274701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86375" y="7455694"/>
            <a:ext cx="7467207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pages · mode clair/sombre · TypeScript · Tailwind · Recharts · Framer Motion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2802791" y="7661374"/>
            <a:ext cx="428607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DASHBOARD-NEXT/ · NEXT.JS 14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47750" y="8362950"/>
            <a:ext cx="16192500" cy="600075"/>
          </a:xfrm>
          <a:prstGeom prst="roundRect">
            <a:avLst>
              <a:gd name="adj" fmla="val 9524"/>
            </a:avLst>
          </a:prstGeom>
          <a:solidFill>
            <a:srgbClr val="0B0B0C"/>
          </a:solidFill>
          <a:ln/>
        </p:spPr>
      </p:sp>
      <p:sp>
        <p:nvSpPr>
          <p:cNvPr id="34" name="Text 32"/>
          <p:cNvSpPr/>
          <p:nvPr/>
        </p:nvSpPr>
        <p:spPr>
          <a:xfrm>
            <a:off x="1257300" y="8534400"/>
            <a:ext cx="2317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FFFFFF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584275" y="8515350"/>
            <a:ext cx="81666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</a:t>
            </a:r>
            <a:pPr algn="l" indent="0" marL="0">
              <a:buNone/>
            </a:pPr>
            <a:r>
              <a:rPr lang="en-US" sz="1800" spc="144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API </a:t>
            </a:r>
            <a:pPr algn="l" indent="0" marL="0">
              <a:buNone/>
            </a:pPr>
            <a:r>
              <a:rPr lang="en-US" sz="1800" spc="144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 </a:t>
            </a:r>
            <a:pPr algn="l" indent="0" marL="0">
              <a:buNone/>
            </a:pPr>
            <a:r>
              <a:rPr lang="en-US" sz="1800" spc="144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Dashboard </a:t>
            </a:r>
            <a:pPr algn="l" indent="0" marL="0">
              <a:buNone/>
            </a:pPr>
            <a:r>
              <a:rPr lang="en-US" sz="1800" spc="144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47750" y="9191625"/>
            <a:ext cx="612282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MODULAIRE · REPRODUCTIBLE · DOCKER-READY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11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871538"/>
            <a:ext cx="24906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PIPELINE ML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015020" y="838200"/>
            <a:ext cx="435198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LA DONNÉE À LA PRÉDICTION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SIX ÉTAPES, &lt; 50 MS PAR REQUÊTE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ML :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donnée à l'inférence.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7750" y="3069134"/>
            <a:ext cx="12753975" cy="440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400" i="1" dirty="0">
                <a:solidFill>
                  <a:srgbClr val="6B68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Chaîne rigoureusement validée — chaque étape est testable et reproductible.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47750" y="4402634"/>
            <a:ext cx="2301776" cy="3181350"/>
          </a:xfrm>
          <a:prstGeom prst="roundRect">
            <a:avLst>
              <a:gd name="adj" fmla="val 248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4659809"/>
            <a:ext cx="19398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66825" y="5078909"/>
            <a:ext cx="19398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load_data()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6825" y="6046887"/>
            <a:ext cx="1939826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— 4 572 lignes. Validation de schéma à l'import.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20976" y="4402634"/>
            <a:ext cx="3364706" cy="3181350"/>
          </a:xfrm>
          <a:prstGeom prst="roundRect">
            <a:avLst>
              <a:gd name="adj" fmla="val 1796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0051" y="4659809"/>
            <a:ext cx="30143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3740051" y="5078909"/>
            <a:ext cx="301435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build_preprocessor()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0051" y="6046887"/>
            <a:ext cx="3014353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+ OneHotEncoder. Imputation médiane sur valeurs manquantes.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057132" y="4402634"/>
            <a:ext cx="2763441" cy="3181350"/>
          </a:xfrm>
          <a:prstGeom prst="roundRect">
            <a:avLst>
              <a:gd name="adj" fmla="val 2068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6207" y="4659809"/>
            <a:ext cx="240149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276207" y="5078909"/>
            <a:ext cx="240149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tune()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276207" y="6366867"/>
            <a:ext cx="2401491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 — 15 itérations, 5-fold CV par modèle.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992023" y="4402634"/>
            <a:ext cx="2301776" cy="3181350"/>
          </a:xfrm>
          <a:prstGeom prst="roundRect">
            <a:avLst>
              <a:gd name="adj" fmla="val 248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11098" y="4659809"/>
            <a:ext cx="19398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0211098" y="5078909"/>
            <a:ext cx="19398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train_all()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11098" y="6008787"/>
            <a:ext cx="1939826" cy="1356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modèles sérialisés en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.pkl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splits.pkl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465248" y="4402634"/>
            <a:ext cx="2301776" cy="3181350"/>
          </a:xfrm>
          <a:prstGeom prst="roundRect">
            <a:avLst>
              <a:gd name="adj" fmla="val 248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84323" y="4659809"/>
            <a:ext cx="19398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2684323" y="5078909"/>
            <a:ext cx="19398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684323" y="6366867"/>
            <a:ext cx="1939826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Lifespan loading. &lt; 50 ms par requête.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938474" y="4402634"/>
            <a:ext cx="2301776" cy="3181350"/>
          </a:xfrm>
          <a:prstGeom prst="roundRect">
            <a:avLst>
              <a:gd name="adj" fmla="val 2483"/>
            </a:avLst>
          </a:prstGeom>
          <a:solidFill>
            <a:srgbClr val="FFFFFF">
              <a:alpha val="4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157549" y="4659809"/>
            <a:ext cx="19398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5157549" y="5078909"/>
            <a:ext cx="19398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5157549" y="6366867"/>
            <a:ext cx="1939826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Sliders → API. Prédiction en temps réel.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047750" y="8324850"/>
            <a:ext cx="16192500" cy="638175"/>
          </a:xfrm>
          <a:prstGeom prst="rect">
            <a:avLst/>
          </a:prstGeom>
          <a:solidFill>
            <a:srgbClr val="DDE1E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47750" y="8324850"/>
            <a:ext cx="28575" cy="638175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5" name="Text 33"/>
          <p:cNvSpPr/>
          <p:nvPr/>
        </p:nvSpPr>
        <p:spPr>
          <a:xfrm>
            <a:off x="1304925" y="8496300"/>
            <a:ext cx="161925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Reproductibilité : </a:t>
            </a:r>
            <a:pPr algn="l" indent="0" marL="0">
              <a:buNone/>
            </a:pPr>
            <a:r>
              <a:rPr lang="en-US" sz="180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models/splits.pkl </a:t>
            </a:r>
            <a:pPr algn="l" indent="0" marL="0">
              <a:buNone/>
            </a:pPr>
            <a:r>
              <a:rPr lang="en-US" sz="1800" dirty="0">
                <a:solidFill>
                  <a:srgbClr val="1A1A1C"/>
                </a:solidFill>
                <a:highlight>
                  <a:srgbClr val="DDE1ED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garantit que les métriques sont toujours calculées sur le même jeu de test.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47750" y="9191625"/>
            <a:ext cx="566371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REPRODUCTIBLE · SPLITS FIGÉS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11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871538"/>
            <a:ext cx="264231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PERFORMANCES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98906" y="838200"/>
            <a:ext cx="714958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MODÈLES COMPARÉS · VALIDATION CROISÉE 5 PLIS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RÉGRESSION — TEST SET &amp; CV 5 PLIS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modèles évalués,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seul retenu.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047750" y="3297734"/>
            <a:ext cx="9402812" cy="5665291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  <a:effectLst>
            <a:outerShdw sx="100000" sy="100000" kx="0" ky="0" algn="bl" rotWithShape="0" blurRad="101600" dist="9525" dir="5400000">
              <a:srgbClr val="000000">
                <a:alpha val="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7275" y="3907334"/>
            <a:ext cx="9383762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10" name="Text 8"/>
          <p:cNvSpPr/>
          <p:nvPr/>
        </p:nvSpPr>
        <p:spPr>
          <a:xfrm>
            <a:off x="1304925" y="3459659"/>
            <a:ext cx="91699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Metrics — Test Set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7275" y="3916859"/>
            <a:ext cx="9383762" cy="495300"/>
          </a:xfrm>
          <a:prstGeom prst="rect">
            <a:avLst/>
          </a:prstGeom>
          <a:solidFill>
            <a:srgbClr val="FAFAF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7275" y="4402634"/>
            <a:ext cx="9383762" cy="9525"/>
          </a:xfrm>
          <a:prstGeom prst="rect">
            <a:avLst/>
          </a:prstGeom>
          <a:solidFill>
            <a:srgbClr val="EEEAE0"/>
          </a:solidFill>
          <a:ln/>
        </p:spPr>
      </p:sp>
      <p:sp>
        <p:nvSpPr>
          <p:cNvPr id="13" name="Text 11"/>
          <p:cNvSpPr/>
          <p:nvPr/>
        </p:nvSpPr>
        <p:spPr>
          <a:xfrm>
            <a:off x="1304925" y="4031159"/>
            <a:ext cx="317745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MODÈLE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23184" y="4031159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</a:t>
            </a:r>
            <a:pPr algn="l" indent="0" marL="0">
              <a:buNone/>
            </a:pPr>
            <a:r>
              <a:rPr lang="en-US" sz="1800" spc="7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13375" y="4031159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</a:t>
            </a:r>
            <a:pPr algn="l" indent="0" marL="0">
              <a:buNone/>
            </a:pPr>
            <a:r>
              <a:rPr lang="en-US" sz="1800" spc="7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03566" y="4031159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</a:t>
            </a:r>
            <a:pPr algn="l" indent="0" marL="0">
              <a:buNone/>
            </a:pPr>
            <a:r>
              <a:rPr lang="en-US" sz="1800" spc="7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93757" y="4031159"/>
            <a:ext cx="187568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R²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7275" y="4412159"/>
            <a:ext cx="9383762" cy="828675"/>
          </a:xfrm>
          <a:prstGeom prst="rect">
            <a:avLst/>
          </a:prstGeom>
          <a:solidFill>
            <a:srgbClr val="3B82F6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57275" y="5231309"/>
            <a:ext cx="9383762" cy="9525"/>
          </a:xfrm>
          <a:prstGeom prst="rect">
            <a:avLst/>
          </a:prstGeom>
          <a:solidFill>
            <a:srgbClr val="EEEAE0"/>
          </a:solidFill>
          <a:ln/>
        </p:spPr>
      </p:sp>
      <p:sp>
        <p:nvSpPr>
          <p:cNvPr id="20" name="Shape 18"/>
          <p:cNvSpPr/>
          <p:nvPr/>
        </p:nvSpPr>
        <p:spPr>
          <a:xfrm>
            <a:off x="1304925" y="4764584"/>
            <a:ext cx="114300" cy="1143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514475" y="4674096"/>
            <a:ext cx="170006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233589" y="4669334"/>
            <a:ext cx="874514" cy="304800"/>
          </a:xfrm>
          <a:prstGeom prst="roundRect">
            <a:avLst>
              <a:gd name="adj" fmla="val 50000"/>
            </a:avLst>
          </a:prstGeom>
          <a:solidFill>
            <a:srgbClr val="DEF7EC"/>
          </a:solidFill>
          <a:ln/>
        </p:spPr>
      </p:sp>
      <p:sp>
        <p:nvSpPr>
          <p:cNvPr id="23" name="Text 21"/>
          <p:cNvSpPr/>
          <p:nvPr/>
        </p:nvSpPr>
        <p:spPr>
          <a:xfrm>
            <a:off x="3328839" y="4707434"/>
            <a:ext cx="76021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54" kern="0" dirty="0">
                <a:solidFill>
                  <a:srgbClr val="0354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Best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23184" y="4674096"/>
            <a:ext cx="12330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0.9971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13375" y="4674096"/>
            <a:ext cx="12330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5.0505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03566" y="4693146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2.8231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393757" y="4526459"/>
            <a:ext cx="187568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0.9965 </a:t>
            </a:r>
            <a:pPr algn="l" indent="0" marL="0">
              <a:buNone/>
            </a:pPr>
            <a:r>
              <a:rPr lang="en-US" sz="1650" b="1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 0.0028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057275" y="5983784"/>
            <a:ext cx="9383762" cy="9525"/>
          </a:xfrm>
          <a:prstGeom prst="rect">
            <a:avLst/>
          </a:prstGeom>
          <a:solidFill>
            <a:srgbClr val="EEEAE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04925" y="5555159"/>
            <a:ext cx="114300" cy="1143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514475" y="5464671"/>
            <a:ext cx="16749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23184" y="5483721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0.9969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813375" y="5483721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5.2159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03566" y="5483721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3.0468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393757" y="5355134"/>
            <a:ext cx="18756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0.9964 </a:t>
            </a:r>
            <a:pPr algn="l" indent="0" marL="0">
              <a:buNone/>
            </a:pPr>
            <a:r>
              <a:rPr lang="en-US" sz="165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 0.0028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57275" y="6736259"/>
            <a:ext cx="9383762" cy="9525"/>
          </a:xfrm>
          <a:prstGeom prst="rect">
            <a:avLst/>
          </a:prstGeom>
          <a:solidFill>
            <a:srgbClr val="EEEAE0"/>
          </a:solidFill>
          <a:ln/>
        </p:spPr>
      </p:sp>
      <p:sp>
        <p:nvSpPr>
          <p:cNvPr id="36" name="Shape 34"/>
          <p:cNvSpPr/>
          <p:nvPr/>
        </p:nvSpPr>
        <p:spPr>
          <a:xfrm>
            <a:off x="1304925" y="6307634"/>
            <a:ext cx="114300" cy="1143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1514475" y="6217146"/>
            <a:ext cx="21740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Régression Linéaire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523184" y="6236196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0.9940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813375" y="6236196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7.2545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103566" y="6217146"/>
            <a:ext cx="12330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2.6733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393757" y="6107609"/>
            <a:ext cx="18756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0.9956 </a:t>
            </a:r>
            <a:pPr algn="l" indent="0" marL="0">
              <a:buNone/>
            </a:pPr>
            <a:r>
              <a:rPr lang="en-US" sz="165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 0.0032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304925" y="7060109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1514475" y="6969621"/>
            <a:ext cx="188773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 (MLP)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523184" y="6988671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0.9925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813375" y="6988671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8.0803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103566" y="6988671"/>
            <a:ext cx="123304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3.8877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393757" y="6860084"/>
            <a:ext cx="18756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0.9941 </a:t>
            </a:r>
            <a:pPr algn="l" indent="0" marL="0">
              <a:buNone/>
            </a:pPr>
            <a:r>
              <a:rPr lang="en-US" sz="165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 0.0034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755362" y="3297734"/>
            <a:ext cx="6484739" cy="5665291"/>
          </a:xfrm>
          <a:prstGeom prst="roundRect">
            <a:avLst>
              <a:gd name="adj" fmla="val 1681"/>
            </a:avLst>
          </a:prstGeom>
          <a:solidFill>
            <a:srgbClr val="0B0B0C"/>
          </a:solidFill>
          <a:ln/>
          <a:effectLst>
            <a:outerShdw sx="100000" sy="100000" kx="0" ky="0" algn="bl" rotWithShape="0" blurRad="266700" dist="133350" dir="5400000">
              <a:srgbClr val="0B173C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1022062" y="3545384"/>
            <a:ext cx="61298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i="1" spc="-22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Random Forest ?</a:t>
            </a:r>
            <a:endParaRPr lang="en-US" sz="2250" dirty="0"/>
          </a:p>
        </p:txBody>
      </p:sp>
      <p:sp>
        <p:nvSpPr>
          <p:cNvPr id="50" name="Text 48"/>
          <p:cNvSpPr/>
          <p:nvPr/>
        </p:nvSpPr>
        <p:spPr>
          <a:xfrm>
            <a:off x="11231612" y="3964484"/>
            <a:ext cx="5914043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Gagne sur le test ET la CV.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1231612" y="4304705"/>
            <a:ext cx="5590748" cy="568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0.9971 sur test, 0.9965 en validation croisée — premier sur les deux.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1231612" y="4975622"/>
            <a:ext cx="5914043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le plus faible.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1231612" y="5315843"/>
            <a:ext cx="5818848" cy="568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5.05 — erreur quadratique moyenne minimisée vs. 8.08 pour le MLP.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1231612" y="5986760"/>
            <a:ext cx="5914043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Très stable (σ ±0.0028).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1231612" y="6326981"/>
            <a:ext cx="561098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entre plis la plus basse — généralisation robuste.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1231612" y="6705302"/>
            <a:ext cx="5914043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Explicabilité native.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231612" y="7045523"/>
            <a:ext cx="5304703" cy="568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+ SHAP directement disponibles — décisions justifiables.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1231612" y="7716441"/>
            <a:ext cx="5914043" cy="3306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Peu sensible au tuning.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1231612" y="8056662"/>
            <a:ext cx="4810793" cy="5688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Performant dès les hyperparamètres par défaut — déploiement sûr.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047750" y="9191625"/>
            <a:ext cx="704135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RANDOMIZEDSEARCHCV · 15 ITÉRATIONS · 5-FOLD CV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871538"/>
            <a:ext cx="435198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COURBES D'APPRENTISSAGE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562284" y="838200"/>
            <a:ext cx="48183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SUR-APPRENTISSAGE &amp; CONVERGENCE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DIAGNOSTIC D'APPRENTISSAGE — R² VS. TAILLE DU JEU D'ENTRAÎNEMENT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Tous convergent —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de sur-apprentissage.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047750" y="3335834"/>
            <a:ext cx="7991475" cy="2156371"/>
          </a:xfrm>
          <a:prstGeom prst="roundRect">
            <a:avLst>
              <a:gd name="adj" fmla="val 4417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  <a:effectLst>
            <a:outerShdw sx="100000" sy="100000" kx="0" ky="0" algn="bl" rotWithShape="0" blurRad="101600" dist="9525" dir="5400000">
              <a:srgbClr val="000000">
                <a:alpha val="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7275" y="3907334"/>
            <a:ext cx="7972425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10" name="Shape 8"/>
          <p:cNvSpPr/>
          <p:nvPr/>
        </p:nvSpPr>
        <p:spPr>
          <a:xfrm>
            <a:off x="1266825" y="3569196"/>
            <a:ext cx="114300" cy="1143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495425" y="3478709"/>
            <a:ext cx="167297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Forêt aléatoire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7275" y="3916859"/>
            <a:ext cx="7972425" cy="156582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949452" y="3993059"/>
            <a:ext cx="2188071" cy="14132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248775" y="3335834"/>
            <a:ext cx="7991475" cy="2156371"/>
          </a:xfrm>
          <a:prstGeom prst="roundRect">
            <a:avLst>
              <a:gd name="adj" fmla="val 4417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  <a:effectLst>
            <a:outerShdw sx="100000" sy="100000" kx="0" ky="0" algn="bl" rotWithShape="0" blurRad="101600" dist="9525" dir="5400000">
              <a:srgbClr val="000000">
                <a:alpha val="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258300" y="3907334"/>
            <a:ext cx="7972425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16" name="Shape 13"/>
          <p:cNvSpPr/>
          <p:nvPr/>
        </p:nvSpPr>
        <p:spPr>
          <a:xfrm>
            <a:off x="9467850" y="3569196"/>
            <a:ext cx="114300" cy="1143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4"/>
          <p:cNvSpPr/>
          <p:nvPr/>
        </p:nvSpPr>
        <p:spPr>
          <a:xfrm>
            <a:off x="9696450" y="3478709"/>
            <a:ext cx="205174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258300" y="3916859"/>
            <a:ext cx="7972425" cy="156582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120711" y="3993059"/>
            <a:ext cx="2247602" cy="141327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047750" y="5701754"/>
            <a:ext cx="7991475" cy="2156371"/>
          </a:xfrm>
          <a:prstGeom prst="roundRect">
            <a:avLst>
              <a:gd name="adj" fmla="val 4417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  <a:effectLst>
            <a:outerShdw sx="100000" sy="100000" kx="0" ky="0" algn="bl" rotWithShape="0" blurRad="101600" dist="9525" dir="5400000">
              <a:srgbClr val="000000">
                <a:alpha val="3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057275" y="6273254"/>
            <a:ext cx="7972425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22" name="Shape 18"/>
          <p:cNvSpPr/>
          <p:nvPr/>
        </p:nvSpPr>
        <p:spPr>
          <a:xfrm>
            <a:off x="1266825" y="5935117"/>
            <a:ext cx="114300" cy="1143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3" name="Text 19"/>
          <p:cNvSpPr/>
          <p:nvPr/>
        </p:nvSpPr>
        <p:spPr>
          <a:xfrm>
            <a:off x="1495425" y="5844629"/>
            <a:ext cx="216738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Régression linéaire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057275" y="6282779"/>
            <a:ext cx="7972425" cy="156582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933676" y="6358979"/>
            <a:ext cx="2219474" cy="141327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9248775" y="5701754"/>
            <a:ext cx="7991475" cy="2156371"/>
          </a:xfrm>
          <a:prstGeom prst="roundRect">
            <a:avLst>
              <a:gd name="adj" fmla="val 4417"/>
            </a:avLst>
          </a:prstGeom>
          <a:solidFill>
            <a:srgbClr val="FFFFFF"/>
          </a:solidFill>
          <a:ln w="9525">
            <a:solidFill>
              <a:srgbClr val="D7D1C2"/>
            </a:solidFill>
            <a:prstDash val="solid"/>
          </a:ln>
          <a:effectLst>
            <a:outerShdw sx="100000" sy="100000" kx="0" ky="0" algn="bl" rotWithShape="0" blurRad="101600" dist="9525" dir="5400000">
              <a:srgbClr val="000000">
                <a:alpha val="3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9258300" y="6273254"/>
            <a:ext cx="7972425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28" name="Shape 23"/>
          <p:cNvSpPr/>
          <p:nvPr/>
        </p:nvSpPr>
        <p:spPr>
          <a:xfrm>
            <a:off x="9467850" y="5935117"/>
            <a:ext cx="114300" cy="1143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4"/>
          <p:cNvSpPr/>
          <p:nvPr/>
        </p:nvSpPr>
        <p:spPr>
          <a:xfrm>
            <a:off x="9696450" y="5844629"/>
            <a:ext cx="297664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 de neurones (MLP)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9258300" y="6282779"/>
            <a:ext cx="7972425" cy="156582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153007" y="6358979"/>
            <a:ext cx="2183011" cy="1413272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1047750" y="8029575"/>
            <a:ext cx="16192500" cy="933450"/>
          </a:xfrm>
          <a:prstGeom prst="roundRect">
            <a:avLst>
              <a:gd name="adj" fmla="val 6122"/>
            </a:avLst>
          </a:prstGeom>
          <a:solidFill>
            <a:srgbClr val="DDE1ED"/>
          </a:solidFill>
          <a:ln/>
        </p:spPr>
      </p:sp>
      <p:sp>
        <p:nvSpPr>
          <p:cNvPr id="33" name="Text 27"/>
          <p:cNvSpPr/>
          <p:nvPr/>
        </p:nvSpPr>
        <p:spPr>
          <a:xfrm>
            <a:off x="1276350" y="8377238"/>
            <a:ext cx="110326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LECTURE</a:t>
            </a:r>
            <a:endParaRPr lang="en-US" sz="1650" dirty="0"/>
          </a:p>
        </p:txBody>
      </p:sp>
      <p:sp>
        <p:nvSpPr>
          <p:cNvPr id="34" name="Text 28"/>
          <p:cNvSpPr/>
          <p:nvPr/>
        </p:nvSpPr>
        <p:spPr>
          <a:xfrm>
            <a:off x="2570113" y="8201025"/>
            <a:ext cx="1487478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courbes </a:t>
            </a:r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</a:t>
            </a:r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</a:t>
            </a:r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</a:t>
            </a:r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rejoignent au-delà de ~1 000 échantillons — généralisation saine, aucun modèle ne sur-apprend. </a:t>
            </a:r>
            <a:pPr algn="l" indent="0" marL="0"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</a:t>
            </a:r>
            <a:pPr algn="l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 l'écart train/val le plus serré.</a:t>
            </a:r>
            <a:endParaRPr lang="en-US" sz="1800" dirty="0"/>
          </a:p>
        </p:txBody>
      </p:sp>
      <p:sp>
        <p:nvSpPr>
          <p:cNvPr id="35" name="Text 29"/>
          <p:cNvSpPr/>
          <p:nvPr/>
        </p:nvSpPr>
        <p:spPr>
          <a:xfrm>
            <a:off x="1047750" y="9191625"/>
            <a:ext cx="627596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 · LEARNING_CURVE · 5-FOLD CV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11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871538"/>
            <a:ext cx="218881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DASHBOARD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411373" y="838200"/>
            <a:ext cx="497374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PAGES D'INTELLIGENCE MARKETING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DÉCISIONNELLE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page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répond à une question business.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047750" y="341203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0B0B0C"/>
          </a:solidFill>
          <a:ln w="9525">
            <a:solidFill>
              <a:srgbClr val="0B0B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5875" y="365015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Accueil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5875" y="400258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globale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85875" y="5246638"/>
            <a:ext cx="354658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KPIs, corrélation entre canaux, benchmark des revenus.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38738" y="341203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76863" y="365015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Prévision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76863" y="400258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Prédiction live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376863" y="5246638"/>
            <a:ext cx="354658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Sliders, prédiction temps réel, ROI, consensus 4 modèles.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29725" y="341203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7850" y="365015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Optimiseur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67850" y="400258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Réglages fins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467850" y="4938117"/>
            <a:ext cx="3546586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Présets, sensibilité TV, comparaison directe entre modèles.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3320713" y="341203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558838" y="365015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Planificateur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558838" y="400258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Inversion modèle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3558838" y="5246638"/>
            <a:ext cx="354658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→ budget optimal. Simulation Monte Carlo (RF).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7750" y="627325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5875" y="651137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Comparaison ML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5875" y="686380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modèles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285875" y="8107859"/>
            <a:ext cx="354658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Métriques, diagramme radar, matrice de confusion.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138738" y="627325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76863" y="651137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Insights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76863" y="686380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 business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376863" y="8107859"/>
            <a:ext cx="354658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des features, corrélations, ROI par influenceur.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229725" y="627325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67850" y="6511379"/>
            <a:ext cx="354658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Feature importance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467850" y="7120979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Explicabilité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467850" y="8107859"/>
            <a:ext cx="3546586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Classement SHAP, permutation importance, stats canal-revenu.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3320713" y="6273254"/>
            <a:ext cx="3919537" cy="2689771"/>
          </a:xfrm>
          <a:prstGeom prst="roundRect">
            <a:avLst>
              <a:gd name="adj" fmla="val 2125"/>
            </a:avLst>
          </a:prstGeom>
          <a:solidFill>
            <a:srgbClr val="DDE1ED"/>
          </a:solidFill>
          <a:ln w="9525">
            <a:solidFill>
              <a:srgbClr val="DDE1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558838" y="6511379"/>
            <a:ext cx="354658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Accès local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558838" y="6863804"/>
            <a:ext cx="354658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spc="-21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localhost:3000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13558838" y="8088809"/>
            <a:ext cx="3546586" cy="674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:8000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Dashboard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A1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:3000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47750" y="9191625"/>
            <a:ext cx="73474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14 · TAILWIND · RECHARTS · FRAMER MOTION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11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871538"/>
            <a:ext cx="2797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DÉMONSTRATION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713196" y="838200"/>
            <a:ext cx="466286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 BUDGET AU ROI EN TEMPS RÉEL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 RÉEL — 90 M€ TV · 10 M€ RADIO · 2 M€ SOCIAL · INFLUENCEUR MEGA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slider </a:t>
            </a:r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la décision en trois temps.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47750" y="3812084"/>
            <a:ext cx="70038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824335" y="3950196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AJUSTER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" y="4555034"/>
            <a:ext cx="516689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Définir le mix budgétaire.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47750" y="5345609"/>
            <a:ext cx="1600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TV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05100" y="5445621"/>
            <a:ext cx="2177951" cy="5715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/>
        </p:spPr>
      </p:sp>
      <p:sp>
        <p:nvSpPr>
          <p:cNvPr id="13" name="Shape 11"/>
          <p:cNvSpPr/>
          <p:nvPr/>
        </p:nvSpPr>
        <p:spPr>
          <a:xfrm>
            <a:off x="2705100" y="5445621"/>
            <a:ext cx="1851124" cy="571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</p:sp>
      <p:sp>
        <p:nvSpPr>
          <p:cNvPr id="14" name="Shape 12"/>
          <p:cNvSpPr/>
          <p:nvPr/>
        </p:nvSpPr>
        <p:spPr>
          <a:xfrm>
            <a:off x="4451449" y="5369421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0201" y="5345609"/>
            <a:ext cx="1123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M€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5755184"/>
            <a:ext cx="1600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RADIO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705100" y="5855196"/>
            <a:ext cx="2177951" cy="5715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/>
        </p:spPr>
      </p:sp>
      <p:sp>
        <p:nvSpPr>
          <p:cNvPr id="18" name="Shape 16"/>
          <p:cNvSpPr/>
          <p:nvPr/>
        </p:nvSpPr>
        <p:spPr>
          <a:xfrm>
            <a:off x="2705100" y="5855196"/>
            <a:ext cx="696813" cy="571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</p:sp>
      <p:sp>
        <p:nvSpPr>
          <p:cNvPr id="19" name="Shape 17"/>
          <p:cNvSpPr/>
          <p:nvPr/>
        </p:nvSpPr>
        <p:spPr>
          <a:xfrm>
            <a:off x="3297138" y="5778996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40201" y="5755184"/>
            <a:ext cx="1123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7750" y="6164759"/>
            <a:ext cx="1600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705100" y="6264771"/>
            <a:ext cx="2177951" cy="5715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/>
        </p:spPr>
      </p:sp>
      <p:sp>
        <p:nvSpPr>
          <p:cNvPr id="23" name="Shape 21"/>
          <p:cNvSpPr/>
          <p:nvPr/>
        </p:nvSpPr>
        <p:spPr>
          <a:xfrm>
            <a:off x="2705100" y="6264771"/>
            <a:ext cx="392013" cy="571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</p:sp>
      <p:sp>
        <p:nvSpPr>
          <p:cNvPr id="24" name="Shape 22"/>
          <p:cNvSpPr/>
          <p:nvPr/>
        </p:nvSpPr>
        <p:spPr>
          <a:xfrm>
            <a:off x="2992338" y="6188571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40201" y="6164759"/>
            <a:ext cx="1123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M€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47750" y="6574334"/>
            <a:ext cx="16002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INFLUENCEUR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705100" y="6674346"/>
            <a:ext cx="2177951" cy="57150"/>
          </a:xfrm>
          <a:prstGeom prst="roundRect">
            <a:avLst>
              <a:gd name="adj" fmla="val 50000"/>
            </a:avLst>
          </a:prstGeom>
          <a:solidFill>
            <a:srgbClr val="ECE7DC"/>
          </a:solidFill>
          <a:ln/>
        </p:spPr>
      </p:sp>
      <p:sp>
        <p:nvSpPr>
          <p:cNvPr id="28" name="Shape 26"/>
          <p:cNvSpPr/>
          <p:nvPr/>
        </p:nvSpPr>
        <p:spPr>
          <a:xfrm>
            <a:off x="2705100" y="6674346"/>
            <a:ext cx="2003673" cy="5715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/>
        </p:spPr>
      </p:sp>
      <p:sp>
        <p:nvSpPr>
          <p:cNvPr id="29" name="Shape 27"/>
          <p:cNvSpPr/>
          <p:nvPr/>
        </p:nvSpPr>
        <p:spPr>
          <a:xfrm>
            <a:off x="4603998" y="6598146"/>
            <a:ext cx="209550" cy="2095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40201" y="6574334"/>
            <a:ext cx="11239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47750" y="8128695"/>
            <a:ext cx="51668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· interface fluide, sans clic requis.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026051" y="3526334"/>
            <a:ext cx="647700" cy="547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9793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6635651" y="3812084"/>
            <a:ext cx="70038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7412236" y="3950196"/>
            <a:ext cx="2408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PRÉDIRE &lt; 50 MS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635651" y="4555034"/>
            <a:ext cx="516704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L'API répond instantanément.</a:t>
            </a:r>
            <a:endParaRPr lang="en-US" sz="2700" dirty="0"/>
          </a:p>
        </p:txBody>
      </p:sp>
      <p:sp>
        <p:nvSpPr>
          <p:cNvPr id="36" name="Shape 34"/>
          <p:cNvSpPr/>
          <p:nvPr/>
        </p:nvSpPr>
        <p:spPr>
          <a:xfrm>
            <a:off x="6635651" y="5155109"/>
            <a:ext cx="5016550" cy="2724150"/>
          </a:xfrm>
          <a:prstGeom prst="roundRect">
            <a:avLst>
              <a:gd name="adj" fmla="val 2797"/>
            </a:avLst>
          </a:prstGeom>
          <a:solidFill>
            <a:srgbClr val="0B0B0C"/>
          </a:solidFill>
          <a:ln/>
        </p:spPr>
      </p:sp>
      <p:sp>
        <p:nvSpPr>
          <p:cNvPr id="37" name="Shape 35"/>
          <p:cNvSpPr/>
          <p:nvPr/>
        </p:nvSpPr>
        <p:spPr>
          <a:xfrm>
            <a:off x="6902351" y="6069509"/>
            <a:ext cx="4483150" cy="9525"/>
          </a:xfrm>
          <a:prstGeom prst="rect">
            <a:avLst/>
          </a:prstGeom>
          <a:solidFill>
            <a:srgbClr val="2A2A2C"/>
          </a:solidFill>
          <a:ln/>
        </p:spPr>
      </p:sp>
      <p:sp>
        <p:nvSpPr>
          <p:cNvPr id="38" name="Text 36"/>
          <p:cNvSpPr/>
          <p:nvPr/>
        </p:nvSpPr>
        <p:spPr>
          <a:xfrm>
            <a:off x="6902351" y="5678984"/>
            <a:ext cx="11645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116741" y="5517059"/>
            <a:ext cx="134496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spc="-60" kern="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$12.4M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6902351" y="6841034"/>
            <a:ext cx="4483150" cy="9525"/>
          </a:xfrm>
          <a:prstGeom prst="rect">
            <a:avLst/>
          </a:prstGeom>
          <a:solidFill>
            <a:srgbClr val="2A2A2C"/>
          </a:solidFill>
          <a:ln/>
        </p:spPr>
      </p:sp>
      <p:sp>
        <p:nvSpPr>
          <p:cNvPr id="41" name="Text 39"/>
          <p:cNvSpPr/>
          <p:nvPr/>
        </p:nvSpPr>
        <p:spPr>
          <a:xfrm>
            <a:off x="6902351" y="6469559"/>
            <a:ext cx="54262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ROI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929664" y="6307634"/>
            <a:ext cx="153203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6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+1 140 %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6902351" y="7241084"/>
            <a:ext cx="163100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EFFICACITÉ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0535543" y="7079159"/>
            <a:ext cx="926157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spc="-6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11.2×</a:t>
            </a:r>
            <a:endParaRPr lang="en-US" sz="3000" dirty="0"/>
          </a:p>
        </p:txBody>
      </p:sp>
      <p:sp>
        <p:nvSpPr>
          <p:cNvPr id="45" name="Text 43"/>
          <p:cNvSpPr/>
          <p:nvPr/>
        </p:nvSpPr>
        <p:spPr>
          <a:xfrm>
            <a:off x="6635651" y="8128695"/>
            <a:ext cx="516704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via API · ROI · efficacité · classe.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1614100" y="3526334"/>
            <a:ext cx="647700" cy="5474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9793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12223700" y="3812084"/>
            <a:ext cx="70038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i="1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48" name="Text 46"/>
          <p:cNvSpPr/>
          <p:nvPr/>
        </p:nvSpPr>
        <p:spPr>
          <a:xfrm>
            <a:off x="13000286" y="3950196"/>
            <a:ext cx="13201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ANALYSER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2223700" y="4555034"/>
            <a:ext cx="516704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27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Comparer et optimiser.</a:t>
            </a:r>
            <a:endParaRPr lang="en-US" sz="2700" dirty="0"/>
          </a:p>
        </p:txBody>
      </p:sp>
      <p:sp>
        <p:nvSpPr>
          <p:cNvPr id="50" name="Text 48"/>
          <p:cNvSpPr/>
          <p:nvPr/>
        </p:nvSpPr>
        <p:spPr>
          <a:xfrm>
            <a:off x="12223700" y="5269409"/>
            <a:ext cx="17907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4052500" y="5488484"/>
            <a:ext cx="2216200" cy="76200"/>
          </a:xfrm>
          <a:prstGeom prst="roundRect">
            <a:avLst>
              <a:gd name="adj" fmla="val 25000"/>
            </a:avLst>
          </a:prstGeom>
          <a:solidFill>
            <a:srgbClr val="ECE7DC"/>
          </a:solidFill>
          <a:ln/>
        </p:spPr>
      </p:sp>
      <p:sp>
        <p:nvSpPr>
          <p:cNvPr id="52" name="Shape 50"/>
          <p:cNvSpPr/>
          <p:nvPr/>
        </p:nvSpPr>
        <p:spPr>
          <a:xfrm>
            <a:off x="14052500" y="5488484"/>
            <a:ext cx="2194024" cy="76200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/>
        </p:spPr>
      </p:sp>
      <p:sp>
        <p:nvSpPr>
          <p:cNvPr id="53" name="Text 51"/>
          <p:cNvSpPr/>
          <p:nvPr/>
        </p:nvSpPr>
        <p:spPr>
          <a:xfrm>
            <a:off x="16306800" y="5397996"/>
            <a:ext cx="93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0.9965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2223700" y="5898059"/>
            <a:ext cx="17907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 Boost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4052500" y="6117134"/>
            <a:ext cx="2216200" cy="76200"/>
          </a:xfrm>
          <a:prstGeom prst="roundRect">
            <a:avLst>
              <a:gd name="adj" fmla="val 25000"/>
            </a:avLst>
          </a:prstGeom>
          <a:solidFill>
            <a:srgbClr val="ECE7DC"/>
          </a:solidFill>
          <a:ln/>
        </p:spPr>
      </p:sp>
      <p:sp>
        <p:nvSpPr>
          <p:cNvPr id="56" name="Shape 54"/>
          <p:cNvSpPr/>
          <p:nvPr/>
        </p:nvSpPr>
        <p:spPr>
          <a:xfrm>
            <a:off x="14052500" y="6117134"/>
            <a:ext cx="2171849" cy="76200"/>
          </a:xfrm>
          <a:prstGeom prst="roundRect">
            <a:avLst>
              <a:gd name="adj" fmla="val 25000"/>
            </a:avLst>
          </a:prstGeom>
          <a:solidFill>
            <a:srgbClr val="97938B"/>
          </a:solidFill>
          <a:ln/>
        </p:spPr>
      </p:sp>
      <p:sp>
        <p:nvSpPr>
          <p:cNvPr id="57" name="Text 55"/>
          <p:cNvSpPr/>
          <p:nvPr/>
        </p:nvSpPr>
        <p:spPr>
          <a:xfrm>
            <a:off x="16306800" y="6026646"/>
            <a:ext cx="93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0.9964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12223700" y="6526709"/>
            <a:ext cx="17907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Régression Lin.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4052500" y="6745784"/>
            <a:ext cx="2216200" cy="76200"/>
          </a:xfrm>
          <a:prstGeom prst="roundRect">
            <a:avLst>
              <a:gd name="adj" fmla="val 25000"/>
            </a:avLst>
          </a:prstGeom>
          <a:solidFill>
            <a:srgbClr val="ECE7DC"/>
          </a:solidFill>
          <a:ln/>
        </p:spPr>
      </p:sp>
      <p:sp>
        <p:nvSpPr>
          <p:cNvPr id="60" name="Shape 58"/>
          <p:cNvSpPr/>
          <p:nvPr/>
        </p:nvSpPr>
        <p:spPr>
          <a:xfrm>
            <a:off x="14052500" y="6745784"/>
            <a:ext cx="2083147" cy="76200"/>
          </a:xfrm>
          <a:prstGeom prst="roundRect">
            <a:avLst>
              <a:gd name="adj" fmla="val 25000"/>
            </a:avLst>
          </a:prstGeom>
          <a:solidFill>
            <a:srgbClr val="97938B"/>
          </a:solidFill>
          <a:ln/>
        </p:spPr>
      </p:sp>
      <p:sp>
        <p:nvSpPr>
          <p:cNvPr id="61" name="Text 59"/>
          <p:cNvSpPr/>
          <p:nvPr/>
        </p:nvSpPr>
        <p:spPr>
          <a:xfrm>
            <a:off x="16306800" y="6655296"/>
            <a:ext cx="93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0.9956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2223700" y="7155359"/>
            <a:ext cx="1790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MLP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4052500" y="7245846"/>
            <a:ext cx="2216200" cy="76200"/>
          </a:xfrm>
          <a:prstGeom prst="roundRect">
            <a:avLst>
              <a:gd name="adj" fmla="val 25000"/>
            </a:avLst>
          </a:prstGeom>
          <a:solidFill>
            <a:srgbClr val="ECE7DC"/>
          </a:solidFill>
          <a:ln/>
        </p:spPr>
      </p:sp>
      <p:sp>
        <p:nvSpPr>
          <p:cNvPr id="64" name="Shape 62"/>
          <p:cNvSpPr/>
          <p:nvPr/>
        </p:nvSpPr>
        <p:spPr>
          <a:xfrm>
            <a:off x="14052500" y="7245846"/>
            <a:ext cx="1950244" cy="76200"/>
          </a:xfrm>
          <a:prstGeom prst="roundRect">
            <a:avLst>
              <a:gd name="adj" fmla="val 25000"/>
            </a:avLst>
          </a:prstGeom>
          <a:solidFill>
            <a:srgbClr val="97938B"/>
          </a:solidFill>
          <a:ln/>
        </p:spPr>
      </p:sp>
      <p:sp>
        <p:nvSpPr>
          <p:cNvPr id="65" name="Text 63"/>
          <p:cNvSpPr/>
          <p:nvPr/>
        </p:nvSpPr>
        <p:spPr>
          <a:xfrm>
            <a:off x="16306800" y="7155359"/>
            <a:ext cx="933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dirty="0">
                <a:solidFill>
                  <a:srgbClr val="1A1A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0.9941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2223700" y="7808714"/>
            <a:ext cx="5167046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modèles comparés en parallèle · planificateur budgétaire.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047750" y="9191625"/>
            <a:ext cx="474533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LIVE · API → DASHBOARD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11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D7D1C2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1238250" y="871538"/>
            <a:ext cx="295318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BILAN CRITIQUE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562284" y="838200"/>
            <a:ext cx="481830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6B68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FORCES · LIMITES · PERSPECTIVES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REGARD HONNÊTE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2195513"/>
            <a:ext cx="16678275" cy="702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spc="-96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système qui marche aujourd'hui — </a:t>
            </a:r>
            <a:pPr algn="l" indent="0" marL="0">
              <a:lnSpc>
                <a:spcPct val="98000"/>
              </a:lnSpc>
              <a:buNone/>
            </a:pPr>
            <a:r>
              <a:rPr lang="en-US" sz="4800" i="1" spc="-96" kern="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qui peut grandir.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047750" y="3526334"/>
            <a:ext cx="5168801" cy="5436691"/>
          </a:xfrm>
          <a:prstGeom prst="roundRect">
            <a:avLst>
              <a:gd name="adj" fmla="val 1106"/>
            </a:avLst>
          </a:prstGeom>
          <a:solidFill>
            <a:srgbClr val="DDE1ED"/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62075" y="4231184"/>
            <a:ext cx="4540151" cy="9525"/>
          </a:xfrm>
          <a:prstGeom prst="rect">
            <a:avLst/>
          </a:prstGeom>
          <a:solidFill>
            <a:srgbClr val="0B0B0C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62075" y="3840659"/>
            <a:ext cx="467635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62075" y="4412159"/>
            <a:ext cx="467635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tient déjà.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71625" y="4974134"/>
            <a:ext cx="446680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&gt; 0.99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les 4 modèles — prédictions ultra-précises.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1625" y="5724525"/>
            <a:ext cx="446680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modulaire et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Docker-ready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1625" y="6166396"/>
            <a:ext cx="446680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documentée et scalable (FastAPI).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1625" y="6916787"/>
            <a:ext cx="446680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7 pages — clair/sombre, responsive.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71625" y="7667179"/>
            <a:ext cx="4466805" cy="674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reproductible (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splits.pkl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joblib).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59451" y="3526334"/>
            <a:ext cx="5168950" cy="5436691"/>
          </a:xfrm>
          <a:prstGeom prst="roundRect">
            <a:avLst>
              <a:gd name="adj" fmla="val 1106"/>
            </a:avLst>
          </a:prstGeom>
          <a:solidFill>
            <a:srgbClr val="E2ECFE"/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73776" y="4231184"/>
            <a:ext cx="4540300" cy="9525"/>
          </a:xfrm>
          <a:prstGeom prst="rect">
            <a:avLst/>
          </a:prstGeom>
          <a:solidFill>
            <a:srgbClr val="0B0B0C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873776" y="3840659"/>
            <a:ext cx="467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0B0B0C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73776" y="4412159"/>
            <a:ext cx="46765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0B0B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qu'il faut nuancer.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7083326" y="4974134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synthétique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à valider sur données réelles.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3326" y="5724525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feedback ni de ré-entraînement automatique.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3326" y="6474916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Saisonnalité et tendances non modélisées.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3326" y="7225308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i="1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traité comme variable catégorielle simple.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3326" y="7975699"/>
            <a:ext cx="446695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0B0B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d'authentification sur l'API publique.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071300" y="3526334"/>
            <a:ext cx="5168950" cy="5436691"/>
          </a:xfrm>
          <a:prstGeom prst="roundRect">
            <a:avLst>
              <a:gd name="adj" fmla="val 1106"/>
            </a:avLst>
          </a:prstGeom>
          <a:solidFill>
            <a:srgbClr val="0B0B0C"/>
          </a:solidFill>
          <a:ln w="9525">
            <a:solidFill>
              <a:srgbClr val="D7D1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385625" y="4231184"/>
            <a:ext cx="4540300" cy="9525"/>
          </a:xfrm>
          <a:prstGeom prst="rect">
            <a:avLst/>
          </a:prstGeom>
          <a:solidFill>
            <a:srgbClr val="3B82F6">
              <a:alpha val="9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2385625" y="3840659"/>
            <a:ext cx="467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3B82F6">
                    <a:alpha val="9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PERSPECTIVES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385625" y="4412159"/>
            <a:ext cx="467650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spc="-22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vient ensuite.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595175" y="4974134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APIs réelles (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Ads, Meta Ads 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595175" y="5724525"/>
            <a:ext cx="446695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Séries temporelles (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Prophet, LSTM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595175" y="6166396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Ré-entraînement automatique (MLOps, Airflow).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595175" y="6916787"/>
            <a:ext cx="4466959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multi-touch (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Shapley values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595175" y="7358658"/>
            <a:ext cx="4466959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cloud GCP / AWS + auto-scaling.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47750" y="9191625"/>
            <a:ext cx="5204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LIVRABLE + UNE FEUILLE DE ROUTE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9793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B0C"/>
          </a:solidFill>
          <a:ln/>
        </p:spPr>
      </p:sp>
      <p:sp>
        <p:nvSpPr>
          <p:cNvPr id="3" name="Shape 1"/>
          <p:cNvSpPr/>
          <p:nvPr/>
        </p:nvSpPr>
        <p:spPr>
          <a:xfrm>
            <a:off x="1047750" y="1300163"/>
            <a:ext cx="16192500" cy="9525"/>
          </a:xfrm>
          <a:prstGeom prst="rect">
            <a:avLst/>
          </a:prstGeom>
          <a:solidFill>
            <a:srgbClr val="2A2A2C"/>
          </a:solidFill>
          <a:ln/>
        </p:spPr>
      </p:sp>
      <p:sp>
        <p:nvSpPr>
          <p:cNvPr id="4" name="Shape 2"/>
          <p:cNvSpPr/>
          <p:nvPr/>
        </p:nvSpPr>
        <p:spPr>
          <a:xfrm>
            <a:off x="1047750" y="971550"/>
            <a:ext cx="57150" cy="571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871538"/>
            <a:ext cx="233972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CONCLUSION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64108" y="838200"/>
            <a:ext cx="45074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RÉCAPITULATIF &amp; REMERCIEMENTS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1728788"/>
            <a:ext cx="166782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TROIS PILIERS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2576513"/>
            <a:ext cx="14716125" cy="1272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500" spc="-90" kern="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 un budget publicitaire en </a:t>
            </a:r>
            <a:pPr algn="l" indent="0" marL="0">
              <a:lnSpc>
                <a:spcPct val="108000"/>
              </a:lnSpc>
              <a:buNone/>
            </a:pPr>
            <a:r>
              <a:rPr lang="en-US" sz="4500" i="1" spc="-90" kern="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décision data-driven </a:t>
            </a:r>
            <a:pPr algn="l" indent="0" marL="0">
              <a:lnSpc>
                <a:spcPct val="108000"/>
              </a:lnSpc>
              <a:buNone/>
            </a:pPr>
            <a:r>
              <a:rPr lang="en-US" sz="4500" spc="-90" kern="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précise, explicable, actionnable.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1047750" y="4191893"/>
            <a:ext cx="524537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" y="4582418"/>
            <a:ext cx="524537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&gt; 0.994.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047750" y="5125343"/>
            <a:ext cx="5245379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modèles ML évalués par </a:t>
            </a:r>
            <a:pPr algn="l" indent="0" marL="0">
              <a:lnSpc>
                <a:spcPct val="140000"/>
              </a:lnSpc>
              <a:buNone/>
            </a:pPr>
            <a:r>
              <a:rPr lang="en-US" sz="1950" i="1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</a:t>
            </a:r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sélectionnés via RandomizedSearchCV.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597551" y="4191893"/>
            <a:ext cx="52455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SCALABILITÉ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97551" y="4582418"/>
            <a:ext cx="524553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Docker-ready.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6597551" y="5125343"/>
            <a:ext cx="5245532" cy="1077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FastAPI indépendante du frontend, extensible à de nouveaux canaux sans refonte.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147500" y="4191893"/>
            <a:ext cx="524553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80" kern="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EXPLICABILITÉ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147500" y="4582418"/>
            <a:ext cx="524553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spc="-29" kern="0" dirty="0">
                <a:solidFill>
                  <a:srgbClr val="F4F1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est justifié.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2147500" y="5125343"/>
            <a:ext cx="524553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950" dirty="0">
                <a:solidFill>
                  <a:srgbClr val="8E8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pages — importance des features, sensibilité par canal, planification inverse.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47750" y="7162800"/>
            <a:ext cx="16192500" cy="9525"/>
          </a:xfrm>
          <a:prstGeom prst="rect">
            <a:avLst/>
          </a:prstGeom>
          <a:solidFill>
            <a:srgbClr val="2A2A2C"/>
          </a:solidFill>
          <a:ln/>
        </p:spPr>
      </p:sp>
      <p:sp>
        <p:nvSpPr>
          <p:cNvPr id="19" name="Text 17"/>
          <p:cNvSpPr/>
          <p:nvPr/>
        </p:nvSpPr>
        <p:spPr>
          <a:xfrm>
            <a:off x="1047750" y="8582025"/>
            <a:ext cx="416297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pour votre attention.</a:t>
            </a:r>
            <a:endParaRPr lang="en-US" sz="3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6862" y="7439025"/>
            <a:ext cx="2103388" cy="685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115819" y="8277225"/>
            <a:ext cx="5124431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800" spc="144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CHUEMBOU ADRIEN · QUANG DAT M1 DATA SCIENCE &amp; IA · 2025–2026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47750" y="9191625"/>
            <a:ext cx="336769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6199941" y="9191625"/>
            <a:ext cx="111650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90" kern="0" dirty="0">
                <a:solidFill>
                  <a:srgbClr val="8E8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11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2026-05-22T12:50:51Z</dcterms:created>
  <dcterms:modified xsi:type="dcterms:W3CDTF">2026-05-22T12:50:51Z</dcterms:modified>
</cp:coreProperties>
</file>
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504950"/>
            <a:ext cx="16192500" cy="9525"/>
          </a:xfrm>
          <a:prstGeom prst="rect">
            <a:avLst/>
          </a:prstGeom>
          <a:solidFill>
            <a:srgbClr val="D7D1C2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47750" y="1081088"/>
            <a:ext cx="57150" cy="57150"/>
          </a:xfrm>
          <a:prstGeom prst="ellipse">
            <a:avLst/>
          </a:prstGeom>
          <a:solidFill>
            <a:srgbClr val="1E3A8A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238250" y="981075"/>
            <a:ext cx="249063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6B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ROI INTELLIGENCE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086654" y="966788"/>
            <a:ext cx="459695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08" kern="0" dirty="0">
                <a:solidFill>
                  <a:srgbClr val="6B6862">
                    <a:alpha val="8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M1 DATA SCIENCE &amp; IA · 2025–2026</a:t>
            </a:r>
            <a:endParaRPr lang="en-US" sz="16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21161" y="838200"/>
            <a:ext cx="1519089" cy="4953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47750" y="3134916"/>
            <a:ext cx="742873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PROJET DE FIN DE MODULE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47750" y="3601641"/>
            <a:ext cx="7428731" cy="2211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300" spc="-325" kern="0" dirty="0">
                <a:solidFill>
                  <a:srgbClr val="0B0B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ROI </a:t>
            </a:r>
            <a:pPr algn="l" indent="0" marL="0">
              <a:lnSpc>
                <a:spcPct val="92000"/>
              </a:lnSpc>
              <a:buNone/>
            </a:pPr>
            <a:r>
              <a:rPr lang="en-US" sz="9300" i="1" spc="-325" kern="0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Intelligence.</a:t>
            </a:r>
            <a:endParaRPr lang="en-US" sz="9300" dirty="0"/>
          </a:p>
        </p:txBody>
      </p:sp>
      <p:sp>
        <p:nvSpPr>
          <p:cNvPr id="9" name="Text 6"/>
          <p:cNvSpPr/>
          <p:nvPr/>
        </p:nvSpPr>
        <p:spPr>
          <a:xfrm>
            <a:off x="1047750" y="6117729"/>
            <a:ext cx="7428731" cy="92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700" i="1" dirty="0">
                <a:solidFill>
                  <a:srgbClr val="6B68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Optimisation du retour sur investissement marketing — par le Machine Learning.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1047750" y="7466409"/>
            <a:ext cx="233942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CHUEMBOU ADRIEN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3768179" y="7485459"/>
            <a:ext cx="22711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6B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376291" y="7466409"/>
            <a:ext cx="143410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QUANG DAT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8945910" y="3185368"/>
            <a:ext cx="8294191" cy="4525714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9525">
            <a:solidFill>
              <a:srgbClr val="D7D1C2"/>
            </a:solidFill>
            <a:prstDash val="solid"/>
          </a:ln>
          <a:effectLst>
            <a:outerShdw sx="100000" sy="100000" kx="0" ky="0" algn="bl" rotWithShape="0" blurRad="101600" dist="9525" dir="5400000">
              <a:srgbClr val="000000">
                <a:alpha val="4000"/>
              </a:srgbClr>
            </a:outerShdw>
          </a:effectLst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8955435" y="3194893"/>
            <a:ext cx="8275141" cy="600075"/>
          </a:xfrm>
          <a:prstGeom prst="rect">
            <a:avLst/>
          </a:prstGeom>
          <a:solidFill>
            <a:srgbClr val="FAFAFB"/>
          </a:solidFill>
          <a:ln/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8955435" y="3785443"/>
            <a:ext cx="8275141" cy="9525"/>
          </a:xfrm>
          <a:prstGeom prst="rect">
            <a:avLst/>
          </a:prstGeom>
          <a:solidFill>
            <a:srgbClr val="D7D1C2"/>
          </a:solidFill>
          <a:ln/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9145935" y="3433018"/>
            <a:ext cx="114300" cy="114300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9355485" y="3433018"/>
            <a:ext cx="114300" cy="114300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9565035" y="3433018"/>
            <a:ext cx="114300" cy="114300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9926985" y="3328243"/>
            <a:ext cx="466725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D7D1C2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10069860" y="3394918"/>
            <a:ext cx="452151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B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roiintel.app — /predict</a:t>
            </a:r>
            <a:endParaRPr lang="en-US" sz="135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5435" y="3794968"/>
            <a:ext cx="8275141" cy="3906589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9184035" y="7111008"/>
            <a:ext cx="2967633" cy="361950"/>
          </a:xfrm>
          <a:prstGeom prst="roundRect">
            <a:avLst>
              <a:gd name="adj" fmla="val 50000"/>
            </a:avLst>
          </a:prstGeom>
          <a:solidFill>
            <a:srgbClr val="FFFFFF">
              <a:alpha val="92000"/>
            </a:srgbClr>
          </a:solidFill>
          <a:ln w="9525">
            <a:solidFill>
              <a:srgbClr val="DDE1ED"/>
            </a:solidFill>
            <a:prstDash val="solid"/>
          </a:ln>
        </p:spPr>
        <p:txBody>
          <a:bodyPr/>
          <a:p/>
        </p:txBody>
      </p:sp>
      <p:sp>
        <p:nvSpPr>
          <p:cNvPr id="23" name="Text 19"/>
          <p:cNvSpPr/>
          <p:nvPr/>
        </p:nvSpPr>
        <p:spPr>
          <a:xfrm>
            <a:off x="9326910" y="7196733"/>
            <a:ext cx="277091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08" kern="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 FORECAST · LIVE</a:t>
            </a:r>
            <a:endParaRPr lang="en-US" sz="1350" dirty="0"/>
          </a:p>
        </p:txBody>
      </p:sp>
      <p:sp>
        <p:nvSpPr>
          <p:cNvPr id="24" name="Text 20"/>
          <p:cNvSpPr/>
          <p:nvPr/>
        </p:nvSpPr>
        <p:spPr>
          <a:xfrm>
            <a:off x="1047750" y="9191625"/>
            <a:ext cx="994963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9793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SYSTÈME DE PRÉDICTION MULTI-MODÈLES &amp; TABLEAU DE BORD DÉCISIONNEL</a:t>
            </a:r>
            <a:endParaRPr lang="en-US" sz="1800" dirty="0"/>
          </a:p>
        </p:txBody>
      </p:sp>
      <p:sp>
        <p:nvSpPr>
          <p:cNvPr id="25" name="Text 21"/>
          <p:cNvSpPr/>
          <p:nvPr/>
        </p:nvSpPr>
        <p:spPr>
          <a:xfrm>
            <a:off x="16199941" y="9191625"/>
            <a:ext cx="111650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9793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11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300163"/>
            <a:ext cx="16192500" cy="9525"/>
          </a:xfrm>
          <a:prstGeom prst="rect">
            <a:avLst/>
          </a:prstGeom>
          <a:solidFill>
            <a:srgbClr val="D7D1C2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47750" y="971550"/>
            <a:ext cx="57150" cy="57150"/>
          </a:xfrm>
          <a:prstGeom prst="ellipse">
            <a:avLst/>
          </a:prstGeom>
          <a:solidFill>
            <a:srgbClr val="1E3A8A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238250" y="871538"/>
            <a:ext cx="27977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6B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PROBLÉMATIQUE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523988" y="838200"/>
            <a:ext cx="27977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6B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POURQUOI CE PROJET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47750" y="1728788"/>
            <a:ext cx="1667827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 CONSTAT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47750" y="2195513"/>
            <a:ext cx="16678275" cy="1299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800" spc="-96" kern="0" dirty="0">
                <a:solidFill>
                  <a:srgbClr val="0B0B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Allouer un budget pub </a:t>
            </a:r>
            <a:pPr algn="l" indent="0" marL="0">
              <a:lnSpc>
                <a:spcPct val="98000"/>
              </a:lnSpc>
              <a:buNone/>
            </a:pPr>
            <a:r>
              <a:rPr lang="en-US" sz="4800" i="1" spc="-96" kern="0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à l'intuition </a:t>
            </a:r>
            <a:pPr algn="l" indent="0" marL="0">
              <a:lnSpc>
                <a:spcPct val="98000"/>
              </a:lnSpc>
              <a:buNone/>
            </a:pPr>
            <a:r>
              <a:rPr lang="en-US" sz="4800" spc="-96" kern="0" dirty="0">
                <a:solidFill>
                  <a:srgbClr val="0B0B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ou à la donnée ?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1047750" y="3666530"/>
            <a:ext cx="12753975" cy="842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2400" i="1" dirty="0">
                <a:solidFill>
                  <a:srgbClr val="6B68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budgets publicitaires sont encore trop souvent décidés au feeling. L'enjeu : transformer une intuition budgétaire en décision data-driven, mesurable et reproductible.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047750" y="5518845"/>
            <a:ext cx="7829550" cy="9525"/>
          </a:xfrm>
          <a:prstGeom prst="rect">
            <a:avLst/>
          </a:prstGeom>
          <a:solidFill>
            <a:srgbClr val="D7D1C2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047750" y="5004495"/>
            <a:ext cx="361950" cy="361950"/>
          </a:xfrm>
          <a:prstGeom prst="ellipse">
            <a:avLst/>
          </a:prstGeom>
          <a:solidFill>
            <a:srgbClr val="E8E1D2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09650" y="5004495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spc="180" kern="0" dirty="0">
                <a:solidFill>
                  <a:srgbClr val="6B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62100" y="5056882"/>
            <a:ext cx="3791548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6B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APPROCHE TRADITIONNELLE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14450" y="5737920"/>
            <a:ext cx="7797737" cy="3900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210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Allocation empirique basée sur l'expérience passée.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314450" y="6261348"/>
            <a:ext cx="7797737" cy="3900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210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Aucune corrélation mesurée entre budget et revenu.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314450" y="6784777"/>
            <a:ext cx="7797737" cy="3900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210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Décisions prises </a:t>
            </a:r>
            <a:pPr algn="l" indent="0" marL="0">
              <a:lnSpc>
                <a:spcPct val="132000"/>
              </a:lnSpc>
              <a:buNone/>
            </a:pPr>
            <a:r>
              <a:rPr lang="en-US" sz="2100" i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posteriori</a:t>
            </a:r>
            <a:pPr algn="l" indent="0" marL="0">
              <a:lnSpc>
                <a:spcPct val="132000"/>
              </a:lnSpc>
              <a:buNone/>
            </a:pPr>
            <a:r>
              <a:rPr lang="en-US" sz="210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après les campagnes.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314450" y="7308205"/>
            <a:ext cx="7797737" cy="3900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210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Même budget, résultats imprévisibles selon les canaux.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314450" y="7831634"/>
            <a:ext cx="7797737" cy="3900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210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Impossible de simuler l'impact avant d'engager.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9410700" y="5518845"/>
            <a:ext cx="7829550" cy="9525"/>
          </a:xfrm>
          <a:prstGeom prst="rect">
            <a:avLst/>
          </a:prstGeom>
          <a:solidFill>
            <a:srgbClr val="D7D1C2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9410700" y="5004495"/>
            <a:ext cx="361950" cy="361950"/>
          </a:xfrm>
          <a:prstGeom prst="ellipse">
            <a:avLst/>
          </a:prstGeom>
          <a:solidFill>
            <a:srgbClr val="DDE1ED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372600" y="5004495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spc="180" kern="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925050" y="5056882"/>
            <a:ext cx="280234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NOTRE APPROCHE ML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677400" y="5737920"/>
            <a:ext cx="7797737" cy="3996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210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Modèles entraînés sur </a:t>
            </a:r>
            <a:pPr algn="l" indent="0" marL="0">
              <a:lnSpc>
                <a:spcPct val="132000"/>
              </a:lnSpc>
              <a:buNone/>
            </a:pPr>
            <a:r>
              <a:rPr lang="en-US" sz="210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4 572 campagnes </a:t>
            </a:r>
            <a:pPr algn="l" indent="0" marL="0">
              <a:lnSpc>
                <a:spcPct val="132000"/>
              </a:lnSpc>
              <a:buNone/>
            </a:pPr>
            <a:r>
              <a:rPr lang="en-US" sz="210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documentées.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9677400" y="6270873"/>
            <a:ext cx="7797737" cy="3900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210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Prédiction du CA en temps réel selon le budget alloué.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9677400" y="6794302"/>
            <a:ext cx="7797737" cy="3900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210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canaux : TV · Radio · Social Media · Influenceur.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9677400" y="7317730"/>
            <a:ext cx="7797737" cy="3996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210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 &gt; 0.99 </a:t>
            </a:r>
            <a:pPr algn="l" indent="0" marL="0">
              <a:lnSpc>
                <a:spcPct val="132000"/>
              </a:lnSpc>
              <a:buNone/>
            </a:pPr>
            <a:r>
              <a:rPr lang="en-US" sz="210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corrélation quasi-parfaite.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9677400" y="7850684"/>
            <a:ext cx="7797737" cy="3900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210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 </a:t>
            </a:r>
            <a:pPr algn="l" indent="0" marL="0">
              <a:lnSpc>
                <a:spcPct val="132000"/>
              </a:lnSpc>
              <a:buNone/>
            </a:pPr>
            <a:r>
              <a:rPr lang="en-US" sz="2100" i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</a:t>
            </a:r>
            <a:pPr algn="l" indent="0" marL="0">
              <a:lnSpc>
                <a:spcPct val="132000"/>
              </a:lnSpc>
              <a:buNone/>
            </a:pPr>
            <a:r>
              <a:rPr lang="en-US" sz="210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le revenu s'affiche instantanément.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9139238" y="5004495"/>
            <a:ext cx="9525" cy="3958530"/>
          </a:xfrm>
          <a:prstGeom prst="rect">
            <a:avLst/>
          </a:prstGeom>
          <a:solidFill>
            <a:srgbClr val="D7D1C2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9101138" y="5004495"/>
            <a:ext cx="114300" cy="399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47750" y="9191625"/>
            <a:ext cx="658209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9793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L'ENJEU : DÉCISION MESURABLE, REPRODUCTIBLE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6199941" y="9191625"/>
            <a:ext cx="111650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9793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11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300163"/>
            <a:ext cx="16192500" cy="9525"/>
          </a:xfrm>
          <a:prstGeom prst="rect">
            <a:avLst/>
          </a:prstGeom>
          <a:solidFill>
            <a:srgbClr val="D7D1C2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47750" y="971550"/>
            <a:ext cx="57150" cy="57150"/>
          </a:xfrm>
          <a:prstGeom prst="ellipse">
            <a:avLst/>
          </a:prstGeom>
          <a:solidFill>
            <a:srgbClr val="1E3A8A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238250" y="871538"/>
            <a:ext cx="218881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6B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OBJECTIFS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411373" y="838200"/>
            <a:ext cx="497374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6B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 LA DONNÉE BRUTE À LA DÉCISION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47750" y="1728788"/>
            <a:ext cx="1667827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CADRE DU PROJET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47750" y="2195513"/>
            <a:ext cx="16678275" cy="6354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800" spc="-96" kern="0" dirty="0">
                <a:solidFill>
                  <a:srgbClr val="0B0B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Quatre ambitions concrètes.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1047750" y="3002459"/>
            <a:ext cx="12753975" cy="4403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2400" i="1" dirty="0">
                <a:solidFill>
                  <a:srgbClr val="6B68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Chacune produit un livrable mesurable — de l'algorithme au tableau de bord.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47750" y="4639121"/>
            <a:ext cx="1118741" cy="860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200" i="1" spc="-216" kern="0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2356991" y="4639121"/>
            <a:ext cx="667667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spc="-29" kern="0" dirty="0">
                <a:solidFill>
                  <a:srgbClr val="0B0B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Prédire.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2356991" y="5162996"/>
            <a:ext cx="6676675" cy="10779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Construire </a:t>
            </a:r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modèles ML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 prédisent le chiffre d'affaires à partir du mix budgétaire : TV, Radio, Social Media, Influenceur.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448800" y="4639121"/>
            <a:ext cx="1118741" cy="860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200" i="1" spc="-216" kern="0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7200" dirty="0"/>
          </a:p>
        </p:txBody>
      </p:sp>
      <p:sp>
        <p:nvSpPr>
          <p:cNvPr id="13" name="Text 11"/>
          <p:cNvSpPr/>
          <p:nvPr/>
        </p:nvSpPr>
        <p:spPr>
          <a:xfrm>
            <a:off x="10758041" y="4639121"/>
            <a:ext cx="667667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spc="-29" kern="0" dirty="0">
                <a:solidFill>
                  <a:srgbClr val="0B0B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Comparer &amp; sélectionner.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10758041" y="5162996"/>
            <a:ext cx="6676675" cy="1097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Évaluer chaque modèle par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A1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cross-validation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plis (R², MAE, RMSE), puis sélectionner automatiquement le plus performant.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047750" y="6679109"/>
            <a:ext cx="1118741" cy="860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200" i="1" spc="-216" kern="0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2356991" y="6679109"/>
            <a:ext cx="667667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spc="-29" kern="0" dirty="0">
                <a:solidFill>
                  <a:srgbClr val="0B0B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Exposer via API REST.</a:t>
            </a:r>
            <a:endParaRPr lang="en-US" sz="2850" dirty="0"/>
          </a:p>
        </p:txBody>
      </p:sp>
      <p:sp>
        <p:nvSpPr>
          <p:cNvPr id="17" name="Text 15"/>
          <p:cNvSpPr/>
          <p:nvPr/>
        </p:nvSpPr>
        <p:spPr>
          <a:xfrm>
            <a:off x="2356991" y="7202984"/>
            <a:ext cx="6676675" cy="1097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Déployer les modèles entraînés via une API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A1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FastAPI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scalable, interrogeable en temps réel par n'importe quel client.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9448800" y="6679109"/>
            <a:ext cx="1118741" cy="860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200" i="1" spc="-216" kern="0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7200" dirty="0"/>
          </a:p>
        </p:txBody>
      </p:sp>
      <p:sp>
        <p:nvSpPr>
          <p:cNvPr id="19" name="Text 17"/>
          <p:cNvSpPr/>
          <p:nvPr/>
        </p:nvSpPr>
        <p:spPr>
          <a:xfrm>
            <a:off x="10758041" y="6679109"/>
            <a:ext cx="667667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spc="-29" kern="0" dirty="0">
                <a:solidFill>
                  <a:srgbClr val="0B0B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Visualiser &amp; décider.</a:t>
            </a:r>
            <a:endParaRPr lang="en-US" sz="2850" dirty="0"/>
          </a:p>
        </p:txBody>
      </p:sp>
      <p:sp>
        <p:nvSpPr>
          <p:cNvPr id="20" name="Text 18"/>
          <p:cNvSpPr/>
          <p:nvPr/>
        </p:nvSpPr>
        <p:spPr>
          <a:xfrm>
            <a:off x="10758041" y="7202984"/>
            <a:ext cx="6676675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dashboard interactif en </a:t>
            </a:r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pages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simuler, comparer et optimiser les allocations budgétaires.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047750" y="9191625"/>
            <a:ext cx="596984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9793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LIVRABLES · MODÈLES → API → DASHBOARD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6199941" y="9191625"/>
            <a:ext cx="111650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9793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11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300163"/>
            <a:ext cx="16192500" cy="9525"/>
          </a:xfrm>
          <a:prstGeom prst="rect">
            <a:avLst/>
          </a:prstGeom>
          <a:solidFill>
            <a:srgbClr val="D7D1C2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47750" y="971550"/>
            <a:ext cx="57150" cy="57150"/>
          </a:xfrm>
          <a:prstGeom prst="ellipse">
            <a:avLst/>
          </a:prstGeom>
          <a:solidFill>
            <a:srgbClr val="1E3A8A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238250" y="871538"/>
            <a:ext cx="264231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6B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ARCHITECTURE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69578" y="838200"/>
            <a:ext cx="357479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6B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CINQ COUCHES MODULAIRES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47750" y="1728788"/>
            <a:ext cx="1667827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 TECHNIQUE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47750" y="2195513"/>
            <a:ext cx="16678275" cy="702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800" spc="-96" kern="0" dirty="0">
                <a:solidFill>
                  <a:srgbClr val="0B0B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la donnée brute à </a:t>
            </a:r>
            <a:pPr algn="l" indent="0" marL="0">
              <a:lnSpc>
                <a:spcPct val="98000"/>
              </a:lnSpc>
              <a:buNone/>
            </a:pPr>
            <a:r>
              <a:rPr lang="en-US" sz="4800" i="1" spc="-96" kern="0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décision business.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1047750" y="3184029"/>
            <a:ext cx="16192500" cy="791468"/>
          </a:xfrm>
          <a:prstGeom prst="roundRect">
            <a:avLst>
              <a:gd name="adj" fmla="val 7221"/>
            </a:avLst>
          </a:prstGeom>
          <a:solidFill>
            <a:srgbClr val="FFFFFF">
              <a:alpha val="40000"/>
            </a:srgbClr>
          </a:solidFill>
          <a:ln w="9525">
            <a:solidFill>
              <a:srgbClr val="D7D1C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323975" y="3408313"/>
            <a:ext cx="8382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i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2352675" y="3451175"/>
            <a:ext cx="274701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DONNÉES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286375" y="3403104"/>
            <a:ext cx="5630451" cy="3914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1A1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data/marketing_labelled.csv </a:t>
            </a:r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4 572 lignes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1019532" y="3451175"/>
            <a:ext cx="612282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9793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TV · RADIO · SOCIAL · INFLUENCER · SALES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47750" y="4108847"/>
            <a:ext cx="16192500" cy="791468"/>
          </a:xfrm>
          <a:prstGeom prst="roundRect">
            <a:avLst>
              <a:gd name="adj" fmla="val 7221"/>
            </a:avLst>
          </a:prstGeom>
          <a:solidFill>
            <a:srgbClr val="FFFFFF">
              <a:alpha val="40000"/>
            </a:srgbClr>
          </a:solidFill>
          <a:ln w="9525">
            <a:solidFill>
              <a:srgbClr val="D7D1C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323975" y="4333131"/>
            <a:ext cx="8382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i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2352675" y="4375993"/>
            <a:ext cx="274701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PREPROCESSING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286375" y="4327922"/>
            <a:ext cx="8691865" cy="3914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</a:t>
            </a:r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1A1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sklearn </a:t>
            </a:r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StandardScaler + OneHotEncoder · imputation médiane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3991779" y="4375993"/>
            <a:ext cx="306141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9793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SRC/PREPROCESSING.PY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047750" y="5033665"/>
            <a:ext cx="16192500" cy="791468"/>
          </a:xfrm>
          <a:prstGeom prst="roundRect">
            <a:avLst>
              <a:gd name="adj" fmla="val 7221"/>
            </a:avLst>
          </a:prstGeom>
          <a:solidFill>
            <a:srgbClr val="FFFFFF">
              <a:alpha val="40000"/>
            </a:srgbClr>
          </a:solidFill>
          <a:ln w="9525">
            <a:solidFill>
              <a:srgbClr val="D7D1C2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323975" y="5257949"/>
            <a:ext cx="8382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i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2352675" y="5300811"/>
            <a:ext cx="274701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ENTRAÎNEMENT ML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286375" y="5252740"/>
            <a:ext cx="9916369" cy="3914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RandomizedSearchCV · 15 iter · 5-fold CV · 4 algorithmes → </a:t>
            </a:r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1A1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.pkl </a:t>
            </a:r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(joblib)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5180618" y="5300811"/>
            <a:ext cx="185960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9793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SRC/TRAIN.PY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047750" y="5958483"/>
            <a:ext cx="16192500" cy="1144786"/>
          </a:xfrm>
          <a:prstGeom prst="roundRect">
            <a:avLst>
              <a:gd name="adj" fmla="val 4992"/>
            </a:avLst>
          </a:prstGeom>
          <a:solidFill>
            <a:srgbClr val="FFFFFF">
              <a:alpha val="40000"/>
            </a:srgbClr>
          </a:solidFill>
          <a:ln w="9525">
            <a:solidFill>
              <a:srgbClr val="D7D1C2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323975" y="6359426"/>
            <a:ext cx="8382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i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700" dirty="0"/>
          </a:p>
        </p:txBody>
      </p:sp>
      <p:sp>
        <p:nvSpPr>
          <p:cNvPr id="25" name="Text 23"/>
          <p:cNvSpPr/>
          <p:nvPr/>
        </p:nvSpPr>
        <p:spPr>
          <a:xfrm>
            <a:off x="2352675" y="6402288"/>
            <a:ext cx="274701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 REST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286375" y="6177558"/>
            <a:ext cx="8538725" cy="7447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1A1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/predict </a:t>
            </a:r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1A1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/predict/all </a:t>
            </a:r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1A1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/metrics </a:t>
            </a:r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1A1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/feature-importance </a:t>
            </a:r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1A1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/stats </a:t>
            </a:r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1A1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/health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13843099" y="6402288"/>
            <a:ext cx="321455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9793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API/MAIN.PY · FASTAPI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047750" y="7236619"/>
            <a:ext cx="16192500" cy="1106686"/>
          </a:xfrm>
          <a:prstGeom prst="roundRect">
            <a:avLst>
              <a:gd name="adj" fmla="val 5164"/>
            </a:avLst>
          </a:prstGeom>
          <a:solidFill>
            <a:srgbClr val="FFFFFF">
              <a:alpha val="40000"/>
            </a:srgbClr>
          </a:solidFill>
          <a:ln w="9525">
            <a:solidFill>
              <a:srgbClr val="D7D1C2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1323975" y="7618512"/>
            <a:ext cx="8382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i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700" dirty="0"/>
          </a:p>
        </p:txBody>
      </p:sp>
      <p:sp>
        <p:nvSpPr>
          <p:cNvPr id="30" name="Text 28"/>
          <p:cNvSpPr/>
          <p:nvPr/>
        </p:nvSpPr>
        <p:spPr>
          <a:xfrm>
            <a:off x="2352675" y="7661374"/>
            <a:ext cx="274701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286375" y="7455694"/>
            <a:ext cx="7467207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pages · mode clair/sombre · TypeScript · Tailwind · Recharts · Framer Motion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12802791" y="7661374"/>
            <a:ext cx="428607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9793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DASHBOARD-NEXT/ · NEXT.JS 14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047750" y="8362950"/>
            <a:ext cx="16192500" cy="600075"/>
          </a:xfrm>
          <a:prstGeom prst="roundRect">
            <a:avLst>
              <a:gd name="adj" fmla="val 9524"/>
            </a:avLst>
          </a:prstGeom>
          <a:solidFill>
            <a:srgbClr val="0B0B0C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1257300" y="8534400"/>
            <a:ext cx="23172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FFFFFF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584275" y="8515350"/>
            <a:ext cx="816668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docker-compose up </a:t>
            </a:r>
            <a:pPr algn="l" indent="0" marL="0">
              <a:buNone/>
            </a:pPr>
            <a:r>
              <a:rPr lang="en-US" sz="1800" spc="144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API </a:t>
            </a:r>
            <a:pPr algn="l" indent="0" marL="0">
              <a:buNone/>
            </a:pPr>
            <a:r>
              <a:rPr lang="en-US" sz="1800" spc="144" kern="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:8000 </a:t>
            </a:r>
            <a:pPr algn="l" indent="0" marL="0">
              <a:buNone/>
            </a:pPr>
            <a:r>
              <a:rPr lang="en-US" sz="1800" spc="144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Dashboard </a:t>
            </a:r>
            <a:pPr algn="l" indent="0" marL="0">
              <a:buNone/>
            </a:pPr>
            <a:r>
              <a:rPr lang="en-US" sz="1800" spc="144" kern="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:3000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047750" y="9191625"/>
            <a:ext cx="612282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9793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MODULAIRE · REPRODUCTIBLE · DOCKER-READY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6199941" y="9191625"/>
            <a:ext cx="111650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9793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11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300163"/>
            <a:ext cx="16192500" cy="9525"/>
          </a:xfrm>
          <a:prstGeom prst="rect">
            <a:avLst/>
          </a:prstGeom>
          <a:solidFill>
            <a:srgbClr val="D7D1C2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47750" y="971550"/>
            <a:ext cx="57150" cy="57150"/>
          </a:xfrm>
          <a:prstGeom prst="ellipse">
            <a:avLst/>
          </a:prstGeom>
          <a:solidFill>
            <a:srgbClr val="1E3A8A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238250" y="871538"/>
            <a:ext cx="249063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6B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PIPELINE ML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015020" y="838200"/>
            <a:ext cx="435198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6B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 LA DONNÉE À LA PRÉDICTION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47750" y="1728788"/>
            <a:ext cx="1667827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SIX ÉTAPES, &lt; 50 MS PAR REQUÊTE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47750" y="2195513"/>
            <a:ext cx="16678275" cy="702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800" spc="-96" kern="0" dirty="0">
                <a:solidFill>
                  <a:srgbClr val="0B0B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ML : </a:t>
            </a:r>
            <a:pPr algn="l" indent="0" marL="0">
              <a:lnSpc>
                <a:spcPct val="98000"/>
              </a:lnSpc>
              <a:buNone/>
            </a:pPr>
            <a:r>
              <a:rPr lang="en-US" sz="4800" i="1" spc="-96" kern="0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la donnée à l'inférence.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1047750" y="3069134"/>
            <a:ext cx="12753975" cy="4403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2400" i="1" dirty="0">
                <a:solidFill>
                  <a:srgbClr val="6B68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Chaîne rigoureusement validée — chaque étape est testable et reproductible.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047750" y="4402634"/>
            <a:ext cx="2301776" cy="3181350"/>
          </a:xfrm>
          <a:prstGeom prst="roundRect">
            <a:avLst>
              <a:gd name="adj" fmla="val 2483"/>
            </a:avLst>
          </a:prstGeom>
          <a:solidFill>
            <a:srgbClr val="FFFFFF">
              <a:alpha val="40000"/>
            </a:srgbClr>
          </a:solidFill>
          <a:ln w="9525">
            <a:solidFill>
              <a:srgbClr val="D7D1C2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266825" y="4659809"/>
            <a:ext cx="193982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i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266825" y="5078909"/>
            <a:ext cx="193982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load_data()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66825" y="6046887"/>
            <a:ext cx="1939826" cy="1318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— 4 572 lignes. Validation de schéma à l'import.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520976" y="4402634"/>
            <a:ext cx="3364706" cy="3181350"/>
          </a:xfrm>
          <a:prstGeom prst="roundRect">
            <a:avLst>
              <a:gd name="adj" fmla="val 1796"/>
            </a:avLst>
          </a:prstGeom>
          <a:solidFill>
            <a:srgbClr val="FFFFFF">
              <a:alpha val="40000"/>
            </a:srgbClr>
          </a:solidFill>
          <a:ln w="9525">
            <a:solidFill>
              <a:srgbClr val="D7D1C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740051" y="4659809"/>
            <a:ext cx="301435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i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3740051" y="5078909"/>
            <a:ext cx="301435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build_preprocessor()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740051" y="6046887"/>
            <a:ext cx="3014353" cy="1318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StandardScaler + OneHotEncoder. Imputation médiane sur valeurs manquantes.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057132" y="4402634"/>
            <a:ext cx="2763441" cy="3181350"/>
          </a:xfrm>
          <a:prstGeom prst="roundRect">
            <a:avLst>
              <a:gd name="adj" fmla="val 2068"/>
            </a:avLst>
          </a:prstGeom>
          <a:solidFill>
            <a:srgbClr val="FFFFFF">
              <a:alpha val="40000"/>
            </a:srgbClr>
          </a:solidFill>
          <a:ln w="9525">
            <a:solidFill>
              <a:srgbClr val="D7D1C2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276207" y="4659809"/>
            <a:ext cx="240149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i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7276207" y="5078909"/>
            <a:ext cx="240149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tune()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276207" y="6366867"/>
            <a:ext cx="2401491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RandomizedSearchCV — 15 itérations, 5-fold CV par modèle.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992023" y="4402634"/>
            <a:ext cx="2301776" cy="3181350"/>
          </a:xfrm>
          <a:prstGeom prst="roundRect">
            <a:avLst>
              <a:gd name="adj" fmla="val 2483"/>
            </a:avLst>
          </a:prstGeom>
          <a:solidFill>
            <a:srgbClr val="FFFFFF">
              <a:alpha val="40000"/>
            </a:srgbClr>
          </a:solidFill>
          <a:ln w="9525">
            <a:solidFill>
              <a:srgbClr val="D7D1C2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10211098" y="4659809"/>
            <a:ext cx="193982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i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10211098" y="5078909"/>
            <a:ext cx="193982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train_all()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211098" y="6008787"/>
            <a:ext cx="1939826" cy="13561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modèles sérialisés en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B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.pkl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B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splits.pkl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2465248" y="4402634"/>
            <a:ext cx="2301776" cy="3181350"/>
          </a:xfrm>
          <a:prstGeom prst="roundRect">
            <a:avLst>
              <a:gd name="adj" fmla="val 2483"/>
            </a:avLst>
          </a:prstGeom>
          <a:solidFill>
            <a:srgbClr val="FFFFFF">
              <a:alpha val="40000"/>
            </a:srgbClr>
          </a:solidFill>
          <a:ln w="9525">
            <a:solidFill>
              <a:srgbClr val="D7D1C2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12684323" y="4659809"/>
            <a:ext cx="193982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i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12684323" y="5078909"/>
            <a:ext cx="193982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FastAPI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2684323" y="6366867"/>
            <a:ext cx="1939826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Lifespan loading. &lt; 50 ms par requête.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4938474" y="4402634"/>
            <a:ext cx="2301776" cy="3181350"/>
          </a:xfrm>
          <a:prstGeom prst="roundRect">
            <a:avLst>
              <a:gd name="adj" fmla="val 2483"/>
            </a:avLst>
          </a:prstGeom>
          <a:solidFill>
            <a:srgbClr val="FFFFFF">
              <a:alpha val="40000"/>
            </a:srgbClr>
          </a:solidFill>
          <a:ln w="9525">
            <a:solidFill>
              <a:srgbClr val="D7D1C2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15157549" y="4659809"/>
            <a:ext cx="193982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i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50" dirty="0"/>
          </a:p>
        </p:txBody>
      </p:sp>
      <p:sp>
        <p:nvSpPr>
          <p:cNvPr id="31" name="Text 29"/>
          <p:cNvSpPr/>
          <p:nvPr/>
        </p:nvSpPr>
        <p:spPr>
          <a:xfrm>
            <a:off x="15157549" y="5078909"/>
            <a:ext cx="193982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5157549" y="6366867"/>
            <a:ext cx="1939826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Sliders → API. Prédiction en temps réel.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047750" y="8324850"/>
            <a:ext cx="16192500" cy="638175"/>
          </a:xfrm>
          <a:prstGeom prst="rect">
            <a:avLst/>
          </a:prstGeom>
          <a:solidFill>
            <a:srgbClr val="DDE1ED"/>
          </a:solidFill>
          <a:ln/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47750" y="8324850"/>
            <a:ext cx="28575" cy="638175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1304925" y="8496300"/>
            <a:ext cx="161925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A1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Reproductibilité : </a:t>
            </a:r>
            <a:pPr algn="l" indent="0" marL="0">
              <a:buNone/>
            </a:pPr>
            <a:r>
              <a:rPr lang="en-US" sz="1800" dirty="0">
                <a:solidFill>
                  <a:srgbClr val="1A1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models/splits.pkl </a:t>
            </a:r>
            <a:pPr algn="l" indent="0" marL="0">
              <a:buNone/>
            </a:pPr>
            <a:r>
              <a:rPr lang="en-US" sz="1800" dirty="0">
                <a:solidFill>
                  <a:srgbClr val="1A1A1C"/>
                </a:solidFill>
                <a:highlight>
                  <a:srgbClr val="DDE1ED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garantit que les métriques sont toujours calculées sur le même jeu de test.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047750" y="9191625"/>
            <a:ext cx="566371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9793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 REPRODUCTIBLE · SPLITS FIGÉS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6199941" y="9191625"/>
            <a:ext cx="111650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9793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11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300163"/>
            <a:ext cx="16192500" cy="9525"/>
          </a:xfrm>
          <a:prstGeom prst="rect">
            <a:avLst/>
          </a:prstGeom>
          <a:solidFill>
            <a:srgbClr val="D7D1C2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47750" y="971550"/>
            <a:ext cx="57150" cy="57150"/>
          </a:xfrm>
          <a:prstGeom prst="ellipse">
            <a:avLst/>
          </a:prstGeom>
          <a:solidFill>
            <a:srgbClr val="1E3A8A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238250" y="871538"/>
            <a:ext cx="264231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6B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PERFORMANCES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298906" y="838200"/>
            <a:ext cx="714958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6B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MODÈLES COMPARÉS · VALIDATION CROISÉE 5 PLIS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47750" y="1728788"/>
            <a:ext cx="1667827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RÉGRESSION — TEST SET &amp; CV 5 PLIS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47750" y="2195513"/>
            <a:ext cx="16678275" cy="702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800" spc="-96" kern="0" dirty="0">
                <a:solidFill>
                  <a:srgbClr val="0B0B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Quatre modèles évalués, </a:t>
            </a:r>
            <a:pPr algn="l" indent="0" marL="0">
              <a:lnSpc>
                <a:spcPct val="98000"/>
              </a:lnSpc>
              <a:buNone/>
            </a:pPr>
            <a:r>
              <a:rPr lang="en-US" sz="4800" i="1" spc="-96" kern="0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seul retenu.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1047750" y="3297734"/>
            <a:ext cx="9402812" cy="5665291"/>
          </a:xfrm>
          <a:prstGeom prst="roundRect">
            <a:avLst>
              <a:gd name="adj" fmla="val 1681"/>
            </a:avLst>
          </a:prstGeom>
          <a:solidFill>
            <a:srgbClr val="FFFFFF"/>
          </a:solidFill>
          <a:ln w="9525">
            <a:solidFill>
              <a:srgbClr val="D7D1C2"/>
            </a:solidFill>
            <a:prstDash val="solid"/>
          </a:ln>
          <a:effectLst>
            <a:outerShdw sx="100000" sy="100000" kx="0" ky="0" algn="bl" rotWithShape="0" blurRad="101600" dist="9525" dir="5400000">
              <a:srgbClr val="000000">
                <a:alpha val="3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057275" y="3907334"/>
            <a:ext cx="9383762" cy="9525"/>
          </a:xfrm>
          <a:prstGeom prst="rect">
            <a:avLst/>
          </a:prstGeom>
          <a:solidFill>
            <a:srgbClr val="D7D1C2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304925" y="3459659"/>
            <a:ext cx="916997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 Metrics — Test Set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57275" y="3916859"/>
            <a:ext cx="9383762" cy="495300"/>
          </a:xfrm>
          <a:prstGeom prst="rect">
            <a:avLst/>
          </a:prstGeom>
          <a:solidFill>
            <a:srgbClr val="FAFAF7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057275" y="4402634"/>
            <a:ext cx="9383762" cy="9525"/>
          </a:xfrm>
          <a:prstGeom prst="rect">
            <a:avLst/>
          </a:prstGeom>
          <a:solidFill>
            <a:srgbClr val="EEEAE0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304925" y="4031159"/>
            <a:ext cx="317745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B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MODÈLE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23184" y="4031159"/>
            <a:ext cx="123304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B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R² </a:t>
            </a:r>
            <a:pPr algn="l" indent="0" marL="0">
              <a:buNone/>
            </a:pPr>
            <a:r>
              <a:rPr lang="en-US" sz="1800" spc="72" kern="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↑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813375" y="4031159"/>
            <a:ext cx="123304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B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RMSE </a:t>
            </a:r>
            <a:pPr algn="l" indent="0" marL="0">
              <a:buNone/>
            </a:pPr>
            <a:r>
              <a:rPr lang="en-US" sz="1800" spc="72" kern="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103566" y="4031159"/>
            <a:ext cx="123304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B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MAE </a:t>
            </a:r>
            <a:pPr algn="l" indent="0" marL="0">
              <a:buNone/>
            </a:pPr>
            <a:r>
              <a:rPr lang="en-US" sz="1800" spc="72" kern="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93757" y="4031159"/>
            <a:ext cx="187568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B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 R²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057275" y="4412159"/>
            <a:ext cx="9383762" cy="828675"/>
          </a:xfrm>
          <a:prstGeom prst="rect">
            <a:avLst/>
          </a:prstGeom>
          <a:solidFill>
            <a:srgbClr val="3B82F6">
              <a:alpha val="8000"/>
            </a:srgbClr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1057275" y="5231309"/>
            <a:ext cx="9383762" cy="9525"/>
          </a:xfrm>
          <a:prstGeom prst="rect">
            <a:avLst/>
          </a:prstGeom>
          <a:solidFill>
            <a:srgbClr val="EEEAE0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304925" y="4764584"/>
            <a:ext cx="114300" cy="11430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514475" y="4674096"/>
            <a:ext cx="1700064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3233589" y="4669334"/>
            <a:ext cx="874514" cy="304800"/>
          </a:xfrm>
          <a:prstGeom prst="roundRect">
            <a:avLst>
              <a:gd name="adj" fmla="val 50000"/>
            </a:avLst>
          </a:prstGeom>
          <a:solidFill>
            <a:srgbClr val="DEF7EC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3328839" y="4707434"/>
            <a:ext cx="76021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0354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Best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523184" y="4674096"/>
            <a:ext cx="123304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0.9971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813375" y="4674096"/>
            <a:ext cx="123304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5.0505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103566" y="4693146"/>
            <a:ext cx="123304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2.8231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393757" y="4526459"/>
            <a:ext cx="1875681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B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0.9965 </a:t>
            </a:r>
            <a:pPr algn="l" indent="0" marL="0">
              <a:buNone/>
            </a:pPr>
            <a:r>
              <a:rPr lang="en-US" sz="1650" b="1" dirty="0">
                <a:solidFill>
                  <a:srgbClr val="6B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± 0.0028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057275" y="5983784"/>
            <a:ext cx="9383762" cy="9525"/>
          </a:xfrm>
          <a:prstGeom prst="rect">
            <a:avLst/>
          </a:prstGeom>
          <a:solidFill>
            <a:srgbClr val="EEEAE0"/>
          </a:solidFill>
          <a:ln/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304925" y="5555159"/>
            <a:ext cx="114300" cy="11430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1514475" y="5464671"/>
            <a:ext cx="1674912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Boost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4523184" y="5483721"/>
            <a:ext cx="123304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0.9969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813375" y="5483721"/>
            <a:ext cx="123304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5.2159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103566" y="5483721"/>
            <a:ext cx="123304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3.0468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393757" y="5355134"/>
            <a:ext cx="1875681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0.9964 </a:t>
            </a:r>
            <a:pPr algn="l" indent="0" marL="0">
              <a:buNone/>
            </a:pPr>
            <a:r>
              <a:rPr lang="en-US" sz="1650" dirty="0">
                <a:solidFill>
                  <a:srgbClr val="6B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± 0.0028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057275" y="6736259"/>
            <a:ext cx="9383762" cy="9525"/>
          </a:xfrm>
          <a:prstGeom prst="rect">
            <a:avLst/>
          </a:prstGeom>
          <a:solidFill>
            <a:srgbClr val="EEEAE0"/>
          </a:solidFill>
          <a:ln/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304925" y="6307634"/>
            <a:ext cx="114300" cy="11430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1514475" y="6217146"/>
            <a:ext cx="2174081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Régression Linéaire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4523184" y="6236196"/>
            <a:ext cx="123304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0.9940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5813375" y="6236196"/>
            <a:ext cx="123304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7.2545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7103566" y="6217146"/>
            <a:ext cx="123304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2.6733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8393757" y="6107609"/>
            <a:ext cx="1875681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0.9956 </a:t>
            </a:r>
            <a:pPr algn="l" indent="0" marL="0">
              <a:buNone/>
            </a:pPr>
            <a:r>
              <a:rPr lang="en-US" sz="1650" dirty="0">
                <a:solidFill>
                  <a:srgbClr val="6B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± 0.0032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1304925" y="7060109"/>
            <a:ext cx="114300" cy="1143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1514475" y="6969621"/>
            <a:ext cx="1887736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Net (MLP)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4523184" y="6988671"/>
            <a:ext cx="123304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0.9925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5813375" y="6988671"/>
            <a:ext cx="123304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8.0803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7103566" y="6988671"/>
            <a:ext cx="123304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3.8877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8393757" y="6860084"/>
            <a:ext cx="1875681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0.9941 </a:t>
            </a:r>
            <a:pPr algn="l" indent="0" marL="0">
              <a:buNone/>
            </a:pPr>
            <a:r>
              <a:rPr lang="en-US" sz="1650" dirty="0">
                <a:solidFill>
                  <a:srgbClr val="6B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± 0.0034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10755362" y="3297734"/>
            <a:ext cx="6484739" cy="5665291"/>
          </a:xfrm>
          <a:prstGeom prst="roundRect">
            <a:avLst>
              <a:gd name="adj" fmla="val 1681"/>
            </a:avLst>
          </a:prstGeom>
          <a:solidFill>
            <a:srgbClr val="0B0B0C"/>
          </a:solidFill>
          <a:ln/>
          <a:effectLst>
            <a:outerShdw sx="100000" sy="100000" kx="0" ky="0" algn="bl" rotWithShape="0" blurRad="266700" dist="133350" dir="5400000">
              <a:srgbClr val="0B173C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11022062" y="3545384"/>
            <a:ext cx="612987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i="1" spc="-22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Pourquoi Random Forest ?</a:t>
            </a:r>
            <a:endParaRPr lang="en-US" sz="2250" dirty="0"/>
          </a:p>
        </p:txBody>
      </p:sp>
      <p:sp>
        <p:nvSpPr>
          <p:cNvPr id="50" name="Text 48"/>
          <p:cNvSpPr/>
          <p:nvPr/>
        </p:nvSpPr>
        <p:spPr>
          <a:xfrm>
            <a:off x="11231612" y="3964484"/>
            <a:ext cx="5914043" cy="3306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Gagne sur le test ET la CV.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11231612" y="4304705"/>
            <a:ext cx="5590748" cy="568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8E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 0.9971 sur test, 0.9965 en validation croisée — premier sur les deux.</a:t>
            </a:r>
            <a:endParaRPr lang="en-US" sz="1650" dirty="0"/>
          </a:p>
        </p:txBody>
      </p:sp>
      <p:sp>
        <p:nvSpPr>
          <p:cNvPr id="52" name="Text 50"/>
          <p:cNvSpPr/>
          <p:nvPr/>
        </p:nvSpPr>
        <p:spPr>
          <a:xfrm>
            <a:off x="11231612" y="4975622"/>
            <a:ext cx="5914043" cy="3306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RMSE le plus faible.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11231612" y="5315843"/>
            <a:ext cx="5818848" cy="568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8E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5.05 — erreur quadratique moyenne minimisée vs. 8.08 pour le MLP.</a:t>
            </a:r>
            <a:endParaRPr lang="en-US" sz="1650" dirty="0"/>
          </a:p>
        </p:txBody>
      </p:sp>
      <p:sp>
        <p:nvSpPr>
          <p:cNvPr id="54" name="Text 52"/>
          <p:cNvSpPr/>
          <p:nvPr/>
        </p:nvSpPr>
        <p:spPr>
          <a:xfrm>
            <a:off x="11231612" y="5986760"/>
            <a:ext cx="5914043" cy="3306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Très stable (σ ±0.0028).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11231612" y="6326981"/>
            <a:ext cx="561098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8E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Variance entre plis la plus basse — généralisation robuste.</a:t>
            </a:r>
            <a:endParaRPr lang="en-US" sz="1650" dirty="0"/>
          </a:p>
        </p:txBody>
      </p:sp>
      <p:sp>
        <p:nvSpPr>
          <p:cNvPr id="56" name="Text 54"/>
          <p:cNvSpPr/>
          <p:nvPr/>
        </p:nvSpPr>
        <p:spPr>
          <a:xfrm>
            <a:off x="11231612" y="6705302"/>
            <a:ext cx="5914043" cy="3306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Explicabilité native.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11231612" y="7045523"/>
            <a:ext cx="5304703" cy="568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8E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importance + SHAP directement disponibles — décisions justifiables.</a:t>
            </a:r>
            <a:endParaRPr lang="en-US" sz="1650" dirty="0"/>
          </a:p>
        </p:txBody>
      </p:sp>
      <p:sp>
        <p:nvSpPr>
          <p:cNvPr id="58" name="Text 56"/>
          <p:cNvSpPr/>
          <p:nvPr/>
        </p:nvSpPr>
        <p:spPr>
          <a:xfrm>
            <a:off x="11231612" y="7716441"/>
            <a:ext cx="5914043" cy="3306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Peu sensible au tuning.</a:t>
            </a:r>
            <a:endParaRPr lang="en-US" sz="1800" dirty="0"/>
          </a:p>
        </p:txBody>
      </p:sp>
      <p:sp>
        <p:nvSpPr>
          <p:cNvPr id="59" name="Text 57"/>
          <p:cNvSpPr/>
          <p:nvPr/>
        </p:nvSpPr>
        <p:spPr>
          <a:xfrm>
            <a:off x="11231612" y="8056662"/>
            <a:ext cx="4810793" cy="568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8E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Performant dès les hyperparamètres par défaut — déploiement sûr.</a:t>
            </a:r>
            <a:endParaRPr lang="en-US" sz="1650" dirty="0"/>
          </a:p>
        </p:txBody>
      </p:sp>
      <p:sp>
        <p:nvSpPr>
          <p:cNvPr id="60" name="Text 58"/>
          <p:cNvSpPr/>
          <p:nvPr/>
        </p:nvSpPr>
        <p:spPr>
          <a:xfrm>
            <a:off x="1047750" y="9191625"/>
            <a:ext cx="704135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9793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RANDOMIZEDSEARCHCV · 15 ITÉRATIONS · 5-FOLD CV</a:t>
            </a:r>
            <a:endParaRPr lang="en-US" sz="1800" dirty="0"/>
          </a:p>
        </p:txBody>
      </p:sp>
      <p:sp>
        <p:nvSpPr>
          <p:cNvPr id="61" name="Text 59"/>
          <p:cNvSpPr/>
          <p:nvPr/>
        </p:nvSpPr>
        <p:spPr>
          <a:xfrm>
            <a:off x="16199941" y="9191625"/>
            <a:ext cx="111650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9793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11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300163"/>
            <a:ext cx="16192500" cy="9525"/>
          </a:xfrm>
          <a:prstGeom prst="rect">
            <a:avLst/>
          </a:prstGeom>
          <a:solidFill>
            <a:srgbClr val="D7D1C2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47750" y="971550"/>
            <a:ext cx="57150" cy="57150"/>
          </a:xfrm>
          <a:prstGeom prst="ellipse">
            <a:avLst/>
          </a:prstGeom>
          <a:solidFill>
            <a:srgbClr val="1E3A8A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238250" y="871538"/>
            <a:ext cx="4351987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6B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COURBES D'APPRENTISSAGE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562284" y="838200"/>
            <a:ext cx="481830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6B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SUR-APPRENTISSAGE &amp; CONVERGENCE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47750" y="1728788"/>
            <a:ext cx="1667827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DIAGNOSTIC D'APPRENTISSAGE — R² VS. TAILLE DU JEU D'ENTRAÎNEMENT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47750" y="2195513"/>
            <a:ext cx="16678275" cy="702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800" spc="-96" kern="0" dirty="0">
                <a:solidFill>
                  <a:srgbClr val="0B0B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Tous convergent — </a:t>
            </a:r>
            <a:pPr algn="l" indent="0" marL="0">
              <a:lnSpc>
                <a:spcPct val="98000"/>
              </a:lnSpc>
              <a:buNone/>
            </a:pPr>
            <a:r>
              <a:rPr lang="en-US" sz="4800" i="1" spc="-96" kern="0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 de sur-apprentissage.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1047750" y="3335834"/>
            <a:ext cx="7991475" cy="2156371"/>
          </a:xfrm>
          <a:prstGeom prst="roundRect">
            <a:avLst>
              <a:gd name="adj" fmla="val 4417"/>
            </a:avLst>
          </a:prstGeom>
          <a:solidFill>
            <a:srgbClr val="FFFFFF"/>
          </a:solidFill>
          <a:ln w="9525">
            <a:solidFill>
              <a:srgbClr val="D7D1C2"/>
            </a:solidFill>
            <a:prstDash val="solid"/>
          </a:ln>
          <a:effectLst>
            <a:outerShdw sx="100000" sy="100000" kx="0" ky="0" algn="bl" rotWithShape="0" blurRad="101600" dist="9525" dir="5400000">
              <a:srgbClr val="000000">
                <a:alpha val="3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057275" y="3907334"/>
            <a:ext cx="7972425" cy="9525"/>
          </a:xfrm>
          <a:prstGeom prst="rect">
            <a:avLst/>
          </a:prstGeom>
          <a:solidFill>
            <a:srgbClr val="D7D1C2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266825" y="3569196"/>
            <a:ext cx="114300" cy="11430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495425" y="3478709"/>
            <a:ext cx="1672977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Forêt aléatoire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57275" y="3916859"/>
            <a:ext cx="7972425" cy="156582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949452" y="3993059"/>
            <a:ext cx="2188071" cy="1413272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9248775" y="3335834"/>
            <a:ext cx="7991475" cy="2156371"/>
          </a:xfrm>
          <a:prstGeom prst="roundRect">
            <a:avLst>
              <a:gd name="adj" fmla="val 4417"/>
            </a:avLst>
          </a:prstGeom>
          <a:solidFill>
            <a:srgbClr val="FFFFFF"/>
          </a:solidFill>
          <a:ln w="9525">
            <a:solidFill>
              <a:srgbClr val="D7D1C2"/>
            </a:solidFill>
            <a:prstDash val="solid"/>
          </a:ln>
          <a:effectLst>
            <a:outerShdw sx="100000" sy="100000" kx="0" ky="0" algn="bl" rotWithShape="0" blurRad="101600" dist="9525" dir="5400000">
              <a:srgbClr val="000000">
                <a:alpha val="3000"/>
              </a:srgbClr>
            </a:outerShdw>
          </a:effectLst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9258300" y="3907334"/>
            <a:ext cx="7972425" cy="9525"/>
          </a:xfrm>
          <a:prstGeom prst="rect">
            <a:avLst/>
          </a:prstGeom>
          <a:solidFill>
            <a:srgbClr val="D7D1C2"/>
          </a:solidFill>
          <a:ln/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9467850" y="3569196"/>
            <a:ext cx="114300" cy="11430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9696450" y="3478709"/>
            <a:ext cx="205174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Boosting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9258300" y="3916859"/>
            <a:ext cx="7972425" cy="156582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2120711" y="3993059"/>
            <a:ext cx="2247602" cy="1413272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1047750" y="5701754"/>
            <a:ext cx="7991475" cy="2156371"/>
          </a:xfrm>
          <a:prstGeom prst="roundRect">
            <a:avLst>
              <a:gd name="adj" fmla="val 4417"/>
            </a:avLst>
          </a:prstGeom>
          <a:solidFill>
            <a:srgbClr val="FFFFFF"/>
          </a:solidFill>
          <a:ln w="9525">
            <a:solidFill>
              <a:srgbClr val="D7D1C2"/>
            </a:solidFill>
            <a:prstDash val="solid"/>
          </a:ln>
          <a:effectLst>
            <a:outerShdw sx="100000" sy="100000" kx="0" ky="0" algn="bl" rotWithShape="0" blurRad="101600" dist="9525" dir="5400000">
              <a:srgbClr val="000000">
                <a:alpha val="3000"/>
              </a:srgbClr>
            </a:outerShdw>
          </a:effectLst>
        </p:spPr>
        <p:txBody>
          <a:bodyPr/>
          <a:p/>
        </p:txBody>
      </p:sp>
      <p:sp>
        <p:nvSpPr>
          <p:cNvPr id="21" name="Shape 17"/>
          <p:cNvSpPr/>
          <p:nvPr/>
        </p:nvSpPr>
        <p:spPr>
          <a:xfrm>
            <a:off x="1057275" y="6273254"/>
            <a:ext cx="7972425" cy="9525"/>
          </a:xfrm>
          <a:prstGeom prst="rect">
            <a:avLst/>
          </a:prstGeom>
          <a:solidFill>
            <a:srgbClr val="D7D1C2"/>
          </a:solidFill>
          <a:ln/>
        </p:spPr>
        <p:txBody>
          <a:bodyPr/>
          <a:p/>
        </p:txBody>
      </p:sp>
      <p:sp>
        <p:nvSpPr>
          <p:cNvPr id="22" name="Shape 18"/>
          <p:cNvSpPr/>
          <p:nvPr/>
        </p:nvSpPr>
        <p:spPr>
          <a:xfrm>
            <a:off x="1266825" y="5935117"/>
            <a:ext cx="114300" cy="11430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23" name="Text 19"/>
          <p:cNvSpPr/>
          <p:nvPr/>
        </p:nvSpPr>
        <p:spPr>
          <a:xfrm>
            <a:off x="1495425" y="5844629"/>
            <a:ext cx="2167384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Régression linéaire</a:t>
            </a:r>
            <a:endParaRPr lang="en-US" sz="1800" dirty="0"/>
          </a:p>
        </p:txBody>
      </p:sp>
      <p:sp>
        <p:nvSpPr>
          <p:cNvPr id="24" name="Shape 20"/>
          <p:cNvSpPr/>
          <p:nvPr/>
        </p:nvSpPr>
        <p:spPr>
          <a:xfrm>
            <a:off x="1057275" y="6282779"/>
            <a:ext cx="7972425" cy="156582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933676" y="6358979"/>
            <a:ext cx="2219474" cy="1413272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9248775" y="5701754"/>
            <a:ext cx="7991475" cy="2156371"/>
          </a:xfrm>
          <a:prstGeom prst="roundRect">
            <a:avLst>
              <a:gd name="adj" fmla="val 4417"/>
            </a:avLst>
          </a:prstGeom>
          <a:solidFill>
            <a:srgbClr val="FFFFFF"/>
          </a:solidFill>
          <a:ln w="9525">
            <a:solidFill>
              <a:srgbClr val="D7D1C2"/>
            </a:solidFill>
            <a:prstDash val="solid"/>
          </a:ln>
          <a:effectLst>
            <a:outerShdw sx="100000" sy="100000" kx="0" ky="0" algn="bl" rotWithShape="0" blurRad="101600" dist="9525" dir="5400000">
              <a:srgbClr val="000000">
                <a:alpha val="3000"/>
              </a:srgbClr>
            </a:outerShdw>
          </a:effectLst>
        </p:spPr>
        <p:txBody>
          <a:bodyPr/>
          <a:p/>
        </p:txBody>
      </p:sp>
      <p:sp>
        <p:nvSpPr>
          <p:cNvPr id="27" name="Shape 22"/>
          <p:cNvSpPr/>
          <p:nvPr/>
        </p:nvSpPr>
        <p:spPr>
          <a:xfrm>
            <a:off x="9258300" y="6273254"/>
            <a:ext cx="7972425" cy="9525"/>
          </a:xfrm>
          <a:prstGeom prst="rect">
            <a:avLst/>
          </a:prstGeom>
          <a:solidFill>
            <a:srgbClr val="D7D1C2"/>
          </a:solidFill>
          <a:ln/>
        </p:spPr>
        <p:txBody>
          <a:bodyPr/>
          <a:p/>
        </p:txBody>
      </p:sp>
      <p:sp>
        <p:nvSpPr>
          <p:cNvPr id="28" name="Shape 23"/>
          <p:cNvSpPr/>
          <p:nvPr/>
        </p:nvSpPr>
        <p:spPr>
          <a:xfrm>
            <a:off x="9467850" y="5935117"/>
            <a:ext cx="114300" cy="1143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29" name="Text 24"/>
          <p:cNvSpPr/>
          <p:nvPr/>
        </p:nvSpPr>
        <p:spPr>
          <a:xfrm>
            <a:off x="9696450" y="5844629"/>
            <a:ext cx="2976643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Réseau de neurones (MLP)</a:t>
            </a:r>
            <a:endParaRPr lang="en-US" sz="1800" dirty="0"/>
          </a:p>
        </p:txBody>
      </p:sp>
      <p:sp>
        <p:nvSpPr>
          <p:cNvPr id="30" name="Shape 25"/>
          <p:cNvSpPr/>
          <p:nvPr/>
        </p:nvSpPr>
        <p:spPr>
          <a:xfrm>
            <a:off x="9258300" y="6282779"/>
            <a:ext cx="7972425" cy="156582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2153007" y="6358979"/>
            <a:ext cx="2183011" cy="1413272"/>
          </a:xfrm>
          <a:prstGeom prst="rect">
            <a:avLst/>
          </a:prstGeom>
        </p:spPr>
      </p:pic>
      <p:sp>
        <p:nvSpPr>
          <p:cNvPr id="32" name="Shape 26"/>
          <p:cNvSpPr/>
          <p:nvPr/>
        </p:nvSpPr>
        <p:spPr>
          <a:xfrm>
            <a:off x="1047750" y="8029575"/>
            <a:ext cx="16192500" cy="933450"/>
          </a:xfrm>
          <a:prstGeom prst="roundRect">
            <a:avLst>
              <a:gd name="adj" fmla="val 6122"/>
            </a:avLst>
          </a:prstGeom>
          <a:solidFill>
            <a:srgbClr val="DDE1ED"/>
          </a:solidFill>
          <a:ln/>
        </p:spPr>
        <p:txBody>
          <a:bodyPr/>
          <a:p/>
        </p:txBody>
      </p:sp>
      <p:sp>
        <p:nvSpPr>
          <p:cNvPr id="33" name="Text 27"/>
          <p:cNvSpPr/>
          <p:nvPr/>
        </p:nvSpPr>
        <p:spPr>
          <a:xfrm>
            <a:off x="1276350" y="8377238"/>
            <a:ext cx="110326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LECTURE</a:t>
            </a:r>
            <a:endParaRPr lang="en-US" sz="1650" dirty="0"/>
          </a:p>
        </p:txBody>
      </p:sp>
      <p:sp>
        <p:nvSpPr>
          <p:cNvPr id="34" name="Text 28"/>
          <p:cNvSpPr/>
          <p:nvPr/>
        </p:nvSpPr>
        <p:spPr>
          <a:xfrm>
            <a:off x="2570113" y="8201025"/>
            <a:ext cx="14874783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courbes </a:t>
            </a:r>
            <a:pPr algn="l" indent="0" marL="0">
              <a:buNone/>
            </a:pPr>
            <a:r>
              <a:rPr lang="en-US" sz="180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</a:t>
            </a:r>
            <a:pPr algn="l" indent="0" marL="0">
              <a:buNone/>
            </a:pPr>
            <a:r>
              <a:rPr lang="en-US" sz="180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 </a:t>
            </a:r>
            <a:pPr algn="l" indent="0" marL="0">
              <a:buNone/>
            </a:pPr>
            <a:r>
              <a:rPr lang="en-US" sz="180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</a:t>
            </a:r>
            <a:pPr algn="l" indent="0" marL="0">
              <a:buNone/>
            </a:pPr>
            <a:r>
              <a:rPr lang="en-US" sz="180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rejoignent au-delà de ~1 000 échantillons — généralisation saine, aucun modèle ne sur-apprend. </a:t>
            </a:r>
            <a:pPr algn="l" indent="0" marL="0">
              <a:buNone/>
            </a:pPr>
            <a:r>
              <a:rPr lang="en-US" sz="180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</a:t>
            </a:r>
            <a:pPr algn="l" indent="0" marL="0">
              <a:buNone/>
            </a:pPr>
            <a:r>
              <a:rPr lang="en-US" sz="180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garde l'écart train/val le plus serré.</a:t>
            </a:r>
            <a:endParaRPr lang="en-US" sz="1800" dirty="0"/>
          </a:p>
        </p:txBody>
      </p:sp>
      <p:sp>
        <p:nvSpPr>
          <p:cNvPr id="35" name="Text 29"/>
          <p:cNvSpPr/>
          <p:nvPr/>
        </p:nvSpPr>
        <p:spPr>
          <a:xfrm>
            <a:off x="1047750" y="9191625"/>
            <a:ext cx="627596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9793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SCIKIT-LEARN · LEARNING_CURVE · 5-FOLD CV</a:t>
            </a:r>
            <a:endParaRPr lang="en-US" sz="1800" dirty="0"/>
          </a:p>
        </p:txBody>
      </p:sp>
      <p:sp>
        <p:nvSpPr>
          <p:cNvPr id="36" name="Text 30"/>
          <p:cNvSpPr/>
          <p:nvPr/>
        </p:nvSpPr>
        <p:spPr>
          <a:xfrm>
            <a:off x="16199941" y="9191625"/>
            <a:ext cx="111650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9793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11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300163"/>
            <a:ext cx="16192500" cy="9525"/>
          </a:xfrm>
          <a:prstGeom prst="rect">
            <a:avLst/>
          </a:prstGeom>
          <a:solidFill>
            <a:srgbClr val="D7D1C2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47750" y="971550"/>
            <a:ext cx="57150" cy="57150"/>
          </a:xfrm>
          <a:prstGeom prst="ellipse">
            <a:avLst/>
          </a:prstGeom>
          <a:solidFill>
            <a:srgbClr val="1E3A8A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238250" y="871538"/>
            <a:ext cx="218881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6B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· DASHBOARD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411373" y="838200"/>
            <a:ext cx="497374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6B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PAGES D'INTELLIGENCE MARKETING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47750" y="1728788"/>
            <a:ext cx="1667827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DÉCISIONNELLE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47750" y="2195513"/>
            <a:ext cx="16678275" cy="702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800" spc="-96" kern="0" dirty="0">
                <a:solidFill>
                  <a:srgbClr val="0B0B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Chaque page </a:t>
            </a:r>
            <a:pPr algn="l" indent="0" marL="0">
              <a:lnSpc>
                <a:spcPct val="98000"/>
              </a:lnSpc>
              <a:buNone/>
            </a:pPr>
            <a:r>
              <a:rPr lang="en-US" sz="4800" i="1" spc="-96" kern="0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répond à une question business.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1047750" y="3412034"/>
            <a:ext cx="3919537" cy="2689771"/>
          </a:xfrm>
          <a:prstGeom prst="roundRect">
            <a:avLst>
              <a:gd name="adj" fmla="val 2125"/>
            </a:avLst>
          </a:prstGeom>
          <a:solidFill>
            <a:srgbClr val="0B0B0C"/>
          </a:solidFill>
          <a:ln w="9525">
            <a:solidFill>
              <a:srgbClr val="0B0B0C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285875" y="3650159"/>
            <a:ext cx="354658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Accueil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5875" y="4002584"/>
            <a:ext cx="354658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-21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Vue globale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285875" y="5246638"/>
            <a:ext cx="3546586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8E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KPIs, corrélation entre canaux, benchmark des revenus.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138738" y="3412034"/>
            <a:ext cx="3919537" cy="2689771"/>
          </a:xfrm>
          <a:prstGeom prst="roundRect">
            <a:avLst>
              <a:gd name="adj" fmla="val 2125"/>
            </a:avLst>
          </a:prstGeom>
          <a:solidFill>
            <a:srgbClr val="FFFFFF">
              <a:alpha val="50000"/>
            </a:srgbClr>
          </a:solidFill>
          <a:ln w="9525">
            <a:solidFill>
              <a:srgbClr val="D7D1C2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376863" y="3650159"/>
            <a:ext cx="354658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Prévision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376863" y="4002584"/>
            <a:ext cx="354658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-21" kern="0" dirty="0">
                <a:solidFill>
                  <a:srgbClr val="0B0B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Prédiction live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5376863" y="5246638"/>
            <a:ext cx="3546586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Sliders, prédiction temps réel, ROI, consensus 4 modèles.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229725" y="3412034"/>
            <a:ext cx="3919537" cy="2689771"/>
          </a:xfrm>
          <a:prstGeom prst="roundRect">
            <a:avLst>
              <a:gd name="adj" fmla="val 2125"/>
            </a:avLst>
          </a:prstGeom>
          <a:solidFill>
            <a:srgbClr val="FFFFFF">
              <a:alpha val="50000"/>
            </a:srgbClr>
          </a:solidFill>
          <a:ln w="9525">
            <a:solidFill>
              <a:srgbClr val="D7D1C2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467850" y="3650159"/>
            <a:ext cx="354658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Optimiseur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467850" y="4002584"/>
            <a:ext cx="354658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-21" kern="0" dirty="0">
                <a:solidFill>
                  <a:srgbClr val="0B0B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Réglages fins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467850" y="4938117"/>
            <a:ext cx="3546586" cy="963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Présets, sensibilité TV, comparaison directe entre modèles.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3320713" y="3412034"/>
            <a:ext cx="3919537" cy="2689771"/>
          </a:xfrm>
          <a:prstGeom prst="roundRect">
            <a:avLst>
              <a:gd name="adj" fmla="val 2125"/>
            </a:avLst>
          </a:prstGeom>
          <a:solidFill>
            <a:srgbClr val="FFFFFF">
              <a:alpha val="50000"/>
            </a:srgbClr>
          </a:solidFill>
          <a:ln w="9525">
            <a:solidFill>
              <a:srgbClr val="D7D1C2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3558838" y="3650159"/>
            <a:ext cx="354658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Planificateur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558838" y="4002584"/>
            <a:ext cx="354658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-21" kern="0" dirty="0">
                <a:solidFill>
                  <a:srgbClr val="0B0B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Inversion modèle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3558838" y="5246638"/>
            <a:ext cx="3546586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 → budget optimal. Simulation Monte Carlo (RF).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047750" y="6273254"/>
            <a:ext cx="3919537" cy="2689771"/>
          </a:xfrm>
          <a:prstGeom prst="roundRect">
            <a:avLst>
              <a:gd name="adj" fmla="val 2125"/>
            </a:avLst>
          </a:prstGeom>
          <a:solidFill>
            <a:srgbClr val="FFFFFF">
              <a:alpha val="50000"/>
            </a:srgbClr>
          </a:solidFill>
          <a:ln w="9525">
            <a:solidFill>
              <a:srgbClr val="D7D1C2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285875" y="6511379"/>
            <a:ext cx="354658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Comparaison ML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85875" y="6863804"/>
            <a:ext cx="354658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-21" kern="0" dirty="0">
                <a:solidFill>
                  <a:srgbClr val="0B0B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Diagnostic modèles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1285875" y="8107859"/>
            <a:ext cx="3546586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Métriques, diagramme radar, matrice de confusion.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5138738" y="6273254"/>
            <a:ext cx="3919537" cy="2689771"/>
          </a:xfrm>
          <a:prstGeom prst="roundRect">
            <a:avLst>
              <a:gd name="adj" fmla="val 2125"/>
            </a:avLst>
          </a:prstGeom>
          <a:solidFill>
            <a:srgbClr val="FFFFFF">
              <a:alpha val="50000"/>
            </a:srgbClr>
          </a:solidFill>
          <a:ln w="9525">
            <a:solidFill>
              <a:srgbClr val="D7D1C2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376863" y="6511379"/>
            <a:ext cx="354658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Insights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376863" y="6863804"/>
            <a:ext cx="354658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-21" kern="0" dirty="0">
                <a:solidFill>
                  <a:srgbClr val="0B0B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Lecture business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5376863" y="8107859"/>
            <a:ext cx="3546586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Importance des features, corrélations, ROI par influenceur.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9229725" y="6273254"/>
            <a:ext cx="3919537" cy="2689771"/>
          </a:xfrm>
          <a:prstGeom prst="roundRect">
            <a:avLst>
              <a:gd name="adj" fmla="val 2125"/>
            </a:avLst>
          </a:prstGeom>
          <a:solidFill>
            <a:srgbClr val="FFFFFF">
              <a:alpha val="50000"/>
            </a:srgbClr>
          </a:solidFill>
          <a:ln w="9525">
            <a:solidFill>
              <a:srgbClr val="D7D1C2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9467850" y="6511379"/>
            <a:ext cx="354658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· Feature importance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467850" y="7120979"/>
            <a:ext cx="354658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-21" kern="0" dirty="0">
                <a:solidFill>
                  <a:srgbClr val="0B0B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Explicabilité</a:t>
            </a: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9467850" y="8107859"/>
            <a:ext cx="3546586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Classement SHAP, permutation importance, stats canal-revenu.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13320713" y="6273254"/>
            <a:ext cx="3919537" cy="2689771"/>
          </a:xfrm>
          <a:prstGeom prst="roundRect">
            <a:avLst>
              <a:gd name="adj" fmla="val 2125"/>
            </a:avLst>
          </a:prstGeom>
          <a:solidFill>
            <a:srgbClr val="DDE1ED"/>
          </a:solidFill>
          <a:ln w="9525">
            <a:solidFill>
              <a:srgbClr val="DDE1ED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13558838" y="6511379"/>
            <a:ext cx="354658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Accès local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3558838" y="6863804"/>
            <a:ext cx="354658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-21" kern="0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localhost:3000</a:t>
            </a:r>
            <a:endParaRPr lang="en-US" sz="2100" dirty="0"/>
          </a:p>
        </p:txBody>
      </p:sp>
      <p:sp>
        <p:nvSpPr>
          <p:cNvPr id="39" name="Text 37"/>
          <p:cNvSpPr/>
          <p:nvPr/>
        </p:nvSpPr>
        <p:spPr>
          <a:xfrm>
            <a:off x="13558838" y="8088809"/>
            <a:ext cx="3546586" cy="674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docker-compose up </a:t>
            </a:r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</a:t>
            </a:r>
            <a:pPr algn="l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1A1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:8000 </a:t>
            </a:r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Dashboard </a:t>
            </a:r>
            <a:pPr algn="l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1A1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:3000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047750" y="9191625"/>
            <a:ext cx="734748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9793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NEXT.JS 14 · TAILWIND · RECHARTS · FRAMER MOTION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6199941" y="9191625"/>
            <a:ext cx="111650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9793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11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300163"/>
            <a:ext cx="16192500" cy="9525"/>
          </a:xfrm>
          <a:prstGeom prst="rect">
            <a:avLst/>
          </a:prstGeom>
          <a:solidFill>
            <a:srgbClr val="D7D1C2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47750" y="971550"/>
            <a:ext cx="57150" cy="57150"/>
          </a:xfrm>
          <a:prstGeom prst="ellipse">
            <a:avLst/>
          </a:prstGeom>
          <a:solidFill>
            <a:srgbClr val="1E3A8A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238250" y="871538"/>
            <a:ext cx="27977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6B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· DÉMONSTRATION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713196" y="838200"/>
            <a:ext cx="466286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6B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 BUDGET AU ROI EN TEMPS RÉEL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47750" y="1728788"/>
            <a:ext cx="1667827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 RÉEL — 90 M€ TV · 10 M€ RADIO · 2 M€ SOCIAL · INFLUENCEUR MEGA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47750" y="2195513"/>
            <a:ext cx="16678275" cy="702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800" spc="-96" kern="0" dirty="0">
                <a:solidFill>
                  <a:srgbClr val="0B0B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 </a:t>
            </a:r>
            <a:pPr algn="l" indent="0" marL="0">
              <a:lnSpc>
                <a:spcPct val="98000"/>
              </a:lnSpc>
              <a:buNone/>
            </a:pPr>
            <a:r>
              <a:rPr lang="en-US" sz="4800" i="1" spc="-96" kern="0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slider </a:t>
            </a:r>
            <a:pPr algn="l" indent="0" marL="0">
              <a:lnSpc>
                <a:spcPct val="98000"/>
              </a:lnSpc>
              <a:buNone/>
            </a:pPr>
            <a:r>
              <a:rPr lang="en-US" sz="4800" spc="-96" kern="0" dirty="0">
                <a:solidFill>
                  <a:srgbClr val="0B0B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à la décision en trois temps.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1047750" y="3812084"/>
            <a:ext cx="70038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i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1824335" y="3950196"/>
            <a:ext cx="11645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6B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AJUSTER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47750" y="4555034"/>
            <a:ext cx="5166893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spc="-27" kern="0" dirty="0">
                <a:solidFill>
                  <a:srgbClr val="0B0B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Définir le mix budgétaire.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1047750" y="5345609"/>
            <a:ext cx="16002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6B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TV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705100" y="5445621"/>
            <a:ext cx="2177951" cy="57150"/>
          </a:xfrm>
          <a:prstGeom prst="roundRect">
            <a:avLst>
              <a:gd name="adj" fmla="val 50000"/>
            </a:avLst>
          </a:prstGeom>
          <a:solidFill>
            <a:srgbClr val="ECE7DC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2705100" y="5445621"/>
            <a:ext cx="1851124" cy="5715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451449" y="5369421"/>
            <a:ext cx="209550" cy="2095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3A8A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940201" y="5345609"/>
            <a:ext cx="11239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 M€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47750" y="5755184"/>
            <a:ext cx="16002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6B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RADIO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2705100" y="5855196"/>
            <a:ext cx="2177951" cy="57150"/>
          </a:xfrm>
          <a:prstGeom prst="roundRect">
            <a:avLst>
              <a:gd name="adj" fmla="val 50000"/>
            </a:avLst>
          </a:prstGeom>
          <a:solidFill>
            <a:srgbClr val="ECE7DC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2705100" y="5855196"/>
            <a:ext cx="696813" cy="5715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3297138" y="5778996"/>
            <a:ext cx="209550" cy="2095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3A8A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940201" y="5755184"/>
            <a:ext cx="11239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M€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47750" y="6164759"/>
            <a:ext cx="16002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6B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SOCIAL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2705100" y="6264771"/>
            <a:ext cx="2177951" cy="57150"/>
          </a:xfrm>
          <a:prstGeom prst="roundRect">
            <a:avLst>
              <a:gd name="adj" fmla="val 50000"/>
            </a:avLst>
          </a:prstGeom>
          <a:solidFill>
            <a:srgbClr val="ECE7DC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2705100" y="6264771"/>
            <a:ext cx="392013" cy="5715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2992338" y="6188571"/>
            <a:ext cx="209550" cy="2095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3A8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940201" y="6164759"/>
            <a:ext cx="11239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M€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47750" y="6574334"/>
            <a:ext cx="16002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6B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INFLUENCEUR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2705100" y="6674346"/>
            <a:ext cx="2177951" cy="57150"/>
          </a:xfrm>
          <a:prstGeom prst="roundRect">
            <a:avLst>
              <a:gd name="adj" fmla="val 50000"/>
            </a:avLst>
          </a:prstGeom>
          <a:solidFill>
            <a:srgbClr val="ECE7DC"/>
          </a:solidFill>
          <a:ln/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2705100" y="6674346"/>
            <a:ext cx="2003673" cy="5715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/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4603998" y="6598146"/>
            <a:ext cx="209550" cy="2095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3A8A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4940201" y="6574334"/>
            <a:ext cx="11239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Mega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047750" y="8128695"/>
            <a:ext cx="5166893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Framer Motion · interface fluide, sans clic requis.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026051" y="3526334"/>
            <a:ext cx="647700" cy="54747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i="1" dirty="0">
                <a:solidFill>
                  <a:srgbClr val="9793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700" dirty="0"/>
          </a:p>
        </p:txBody>
      </p:sp>
      <p:sp>
        <p:nvSpPr>
          <p:cNvPr id="33" name="Text 31"/>
          <p:cNvSpPr/>
          <p:nvPr/>
        </p:nvSpPr>
        <p:spPr>
          <a:xfrm>
            <a:off x="6635651" y="3812084"/>
            <a:ext cx="70038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i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200" dirty="0"/>
          </a:p>
        </p:txBody>
      </p:sp>
      <p:sp>
        <p:nvSpPr>
          <p:cNvPr id="34" name="Text 32"/>
          <p:cNvSpPr/>
          <p:nvPr/>
        </p:nvSpPr>
        <p:spPr>
          <a:xfrm>
            <a:off x="7412236" y="3950196"/>
            <a:ext cx="240833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6B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PRÉDIRE &lt; 50 MS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635651" y="4555034"/>
            <a:ext cx="5167046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spc="-27" kern="0" dirty="0">
                <a:solidFill>
                  <a:srgbClr val="0B0B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L'API répond instantanément.</a:t>
            </a:r>
            <a:endParaRPr lang="en-US" sz="2700" dirty="0"/>
          </a:p>
        </p:txBody>
      </p:sp>
      <p:sp>
        <p:nvSpPr>
          <p:cNvPr id="36" name="Shape 34"/>
          <p:cNvSpPr/>
          <p:nvPr/>
        </p:nvSpPr>
        <p:spPr>
          <a:xfrm>
            <a:off x="6635651" y="5155109"/>
            <a:ext cx="5016550" cy="2724150"/>
          </a:xfrm>
          <a:prstGeom prst="roundRect">
            <a:avLst>
              <a:gd name="adj" fmla="val 2797"/>
            </a:avLst>
          </a:prstGeom>
          <a:solidFill>
            <a:srgbClr val="0B0B0C"/>
          </a:solidFill>
          <a:ln/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6902351" y="6069509"/>
            <a:ext cx="4483150" cy="9525"/>
          </a:xfrm>
          <a:prstGeom prst="rect">
            <a:avLst/>
          </a:prstGeom>
          <a:solidFill>
            <a:srgbClr val="2A2A2C"/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6902351" y="5678984"/>
            <a:ext cx="11645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8E8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0116741" y="5517059"/>
            <a:ext cx="134496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i="1" spc="-60" kern="0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$322M</a:t>
            </a:r>
            <a:endParaRPr lang="en-US" sz="3000" dirty="0"/>
          </a:p>
        </p:txBody>
      </p:sp>
      <p:sp>
        <p:nvSpPr>
          <p:cNvPr id="40" name="Shape 38"/>
          <p:cNvSpPr/>
          <p:nvPr/>
        </p:nvSpPr>
        <p:spPr>
          <a:xfrm>
            <a:off x="6902351" y="6841034"/>
            <a:ext cx="4483150" cy="9525"/>
          </a:xfrm>
          <a:prstGeom prst="rect">
            <a:avLst/>
          </a:prstGeom>
          <a:solidFill>
            <a:srgbClr val="2A2A2C"/>
          </a:solidFill>
          <a:ln/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6902351" y="6469559"/>
            <a:ext cx="54262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8E8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ROI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9929664" y="6307634"/>
            <a:ext cx="1532037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spc="-6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+216 %</a:t>
            </a:r>
            <a:endParaRPr lang="en-US" sz="3000" dirty="0"/>
          </a:p>
        </p:txBody>
      </p:sp>
      <p:sp>
        <p:nvSpPr>
          <p:cNvPr id="43" name="Text 41"/>
          <p:cNvSpPr/>
          <p:nvPr/>
        </p:nvSpPr>
        <p:spPr>
          <a:xfrm>
            <a:off x="6902351" y="7241084"/>
            <a:ext cx="163100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8E8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EFFICACITÉ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10535543" y="7079159"/>
            <a:ext cx="926157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spc="-6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3.2×</a:t>
            </a:r>
            <a:endParaRPr lang="en-US" sz="3000" dirty="0"/>
          </a:p>
        </p:txBody>
      </p:sp>
      <p:sp>
        <p:nvSpPr>
          <p:cNvPr id="45" name="Text 43"/>
          <p:cNvSpPr/>
          <p:nvPr/>
        </p:nvSpPr>
        <p:spPr>
          <a:xfrm>
            <a:off x="6635651" y="8128695"/>
            <a:ext cx="5167046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via API · ROI · efficacité · classe.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11614100" y="3526334"/>
            <a:ext cx="647700" cy="54747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i="1" dirty="0">
                <a:solidFill>
                  <a:srgbClr val="9793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700" dirty="0"/>
          </a:p>
        </p:txBody>
      </p:sp>
      <p:sp>
        <p:nvSpPr>
          <p:cNvPr id="47" name="Text 45"/>
          <p:cNvSpPr/>
          <p:nvPr/>
        </p:nvSpPr>
        <p:spPr>
          <a:xfrm>
            <a:off x="12223700" y="3812084"/>
            <a:ext cx="70038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i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200" dirty="0"/>
          </a:p>
        </p:txBody>
      </p:sp>
      <p:sp>
        <p:nvSpPr>
          <p:cNvPr id="48" name="Text 46"/>
          <p:cNvSpPr/>
          <p:nvPr/>
        </p:nvSpPr>
        <p:spPr>
          <a:xfrm>
            <a:off x="13000286" y="3950196"/>
            <a:ext cx="132010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6B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ANALYSER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12223700" y="4555034"/>
            <a:ext cx="5167046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spc="-27" kern="0" dirty="0">
                <a:solidFill>
                  <a:srgbClr val="0B0B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Comparer et optimiser.</a:t>
            </a:r>
            <a:endParaRPr lang="en-US" sz="2700" dirty="0"/>
          </a:p>
        </p:txBody>
      </p:sp>
      <p:sp>
        <p:nvSpPr>
          <p:cNvPr id="50" name="Text 48"/>
          <p:cNvSpPr/>
          <p:nvPr/>
        </p:nvSpPr>
        <p:spPr>
          <a:xfrm>
            <a:off x="12223700" y="5269409"/>
            <a:ext cx="179070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B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 Forest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14052500" y="5488484"/>
            <a:ext cx="2216200" cy="76200"/>
          </a:xfrm>
          <a:prstGeom prst="roundRect">
            <a:avLst>
              <a:gd name="adj" fmla="val 25000"/>
            </a:avLst>
          </a:prstGeom>
          <a:solidFill>
            <a:srgbClr val="ECE7DC"/>
          </a:solidFill>
          <a:ln/>
        </p:spPr>
        <p:txBody>
          <a:bodyPr/>
          <a:p/>
        </p:txBody>
      </p:sp>
      <p:sp>
        <p:nvSpPr>
          <p:cNvPr id="52" name="Shape 50"/>
          <p:cNvSpPr/>
          <p:nvPr/>
        </p:nvSpPr>
        <p:spPr>
          <a:xfrm>
            <a:off x="14052500" y="5488484"/>
            <a:ext cx="2194024" cy="76200"/>
          </a:xfrm>
          <a:prstGeom prst="roundRect">
            <a:avLst>
              <a:gd name="adj" fmla="val 25000"/>
            </a:avLst>
          </a:prstGeom>
          <a:solidFill>
            <a:srgbClr val="1E3A8A"/>
          </a:solidFill>
          <a:ln/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16306800" y="5397996"/>
            <a:ext cx="9334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1A1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0.9965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12223700" y="5898059"/>
            <a:ext cx="179070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B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Gradient Boost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14052500" y="6117134"/>
            <a:ext cx="2216200" cy="76200"/>
          </a:xfrm>
          <a:prstGeom prst="roundRect">
            <a:avLst>
              <a:gd name="adj" fmla="val 25000"/>
            </a:avLst>
          </a:prstGeom>
          <a:solidFill>
            <a:srgbClr val="ECE7DC"/>
          </a:solidFill>
          <a:ln/>
        </p:spPr>
        <p:txBody>
          <a:bodyPr/>
          <a:p/>
        </p:txBody>
      </p:sp>
      <p:sp>
        <p:nvSpPr>
          <p:cNvPr id="56" name="Shape 54"/>
          <p:cNvSpPr/>
          <p:nvPr/>
        </p:nvSpPr>
        <p:spPr>
          <a:xfrm>
            <a:off x="14052500" y="6117134"/>
            <a:ext cx="2171849" cy="76200"/>
          </a:xfrm>
          <a:prstGeom prst="roundRect">
            <a:avLst>
              <a:gd name="adj" fmla="val 25000"/>
            </a:avLst>
          </a:prstGeom>
          <a:solidFill>
            <a:srgbClr val="97938B"/>
          </a:solidFill>
          <a:ln/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16306800" y="6026646"/>
            <a:ext cx="9334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1A1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0.9964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12223700" y="6526709"/>
            <a:ext cx="179070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B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Régression Lin.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14052500" y="6745784"/>
            <a:ext cx="2216200" cy="76200"/>
          </a:xfrm>
          <a:prstGeom prst="roundRect">
            <a:avLst>
              <a:gd name="adj" fmla="val 25000"/>
            </a:avLst>
          </a:prstGeom>
          <a:solidFill>
            <a:srgbClr val="ECE7DC"/>
          </a:solidFill>
          <a:ln/>
        </p:spPr>
        <p:txBody>
          <a:bodyPr/>
          <a:p/>
        </p:txBody>
      </p:sp>
      <p:sp>
        <p:nvSpPr>
          <p:cNvPr id="60" name="Shape 58"/>
          <p:cNvSpPr/>
          <p:nvPr/>
        </p:nvSpPr>
        <p:spPr>
          <a:xfrm>
            <a:off x="14052500" y="6745784"/>
            <a:ext cx="2083147" cy="76200"/>
          </a:xfrm>
          <a:prstGeom prst="roundRect">
            <a:avLst>
              <a:gd name="adj" fmla="val 25000"/>
            </a:avLst>
          </a:prstGeom>
          <a:solidFill>
            <a:srgbClr val="97938B"/>
          </a:solidFill>
          <a:ln/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16306800" y="6655296"/>
            <a:ext cx="9334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1A1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0.9956</a:t>
            </a:r>
            <a:endParaRPr lang="en-US" sz="1800" dirty="0"/>
          </a:p>
        </p:txBody>
      </p:sp>
      <p:sp>
        <p:nvSpPr>
          <p:cNvPr id="62" name="Text 60"/>
          <p:cNvSpPr/>
          <p:nvPr/>
        </p:nvSpPr>
        <p:spPr>
          <a:xfrm>
            <a:off x="12223700" y="7155359"/>
            <a:ext cx="17907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B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MLP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14052500" y="7245846"/>
            <a:ext cx="2216200" cy="76200"/>
          </a:xfrm>
          <a:prstGeom prst="roundRect">
            <a:avLst>
              <a:gd name="adj" fmla="val 25000"/>
            </a:avLst>
          </a:prstGeom>
          <a:solidFill>
            <a:srgbClr val="ECE7DC"/>
          </a:solidFill>
          <a:ln/>
        </p:spPr>
        <p:txBody>
          <a:bodyPr/>
          <a:p/>
        </p:txBody>
      </p:sp>
      <p:sp>
        <p:nvSpPr>
          <p:cNvPr id="64" name="Shape 62"/>
          <p:cNvSpPr/>
          <p:nvPr/>
        </p:nvSpPr>
        <p:spPr>
          <a:xfrm>
            <a:off x="14052500" y="7245846"/>
            <a:ext cx="1950244" cy="76200"/>
          </a:xfrm>
          <a:prstGeom prst="roundRect">
            <a:avLst>
              <a:gd name="adj" fmla="val 25000"/>
            </a:avLst>
          </a:prstGeom>
          <a:solidFill>
            <a:srgbClr val="97938B"/>
          </a:solidFill>
          <a:ln/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16306800" y="7155359"/>
            <a:ext cx="9334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1A1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0.9941</a:t>
            </a:r>
            <a:endParaRPr lang="en-US" sz="1800" dirty="0"/>
          </a:p>
        </p:txBody>
      </p:sp>
      <p:sp>
        <p:nvSpPr>
          <p:cNvPr id="66" name="Text 64"/>
          <p:cNvSpPr/>
          <p:nvPr/>
        </p:nvSpPr>
        <p:spPr>
          <a:xfrm>
            <a:off x="12223700" y="7808714"/>
            <a:ext cx="5167046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modèles comparés en parallèle · planificateur budgétaire.</a:t>
            </a:r>
            <a:endParaRPr lang="en-US" sz="1800" dirty="0"/>
          </a:p>
        </p:txBody>
      </p:sp>
      <p:sp>
        <p:nvSpPr>
          <p:cNvPr id="67" name="Text 65"/>
          <p:cNvSpPr/>
          <p:nvPr/>
        </p:nvSpPr>
        <p:spPr>
          <a:xfrm>
            <a:off x="1047750" y="9191625"/>
            <a:ext cx="474533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9793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 LIVE · API → DASHBOARD</a:t>
            </a:r>
            <a:endParaRPr lang="en-US" sz="1800" dirty="0"/>
          </a:p>
        </p:txBody>
      </p:sp>
      <p:sp>
        <p:nvSpPr>
          <p:cNvPr id="68" name="Text 66"/>
          <p:cNvSpPr/>
          <p:nvPr/>
        </p:nvSpPr>
        <p:spPr>
          <a:xfrm>
            <a:off x="16199941" y="9191625"/>
            <a:ext cx="111650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9793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11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300163"/>
            <a:ext cx="16192500" cy="9525"/>
          </a:xfrm>
          <a:prstGeom prst="rect">
            <a:avLst/>
          </a:prstGeom>
          <a:solidFill>
            <a:srgbClr val="D7D1C2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47750" y="971550"/>
            <a:ext cx="57150" cy="57150"/>
          </a:xfrm>
          <a:prstGeom prst="ellipse">
            <a:avLst/>
          </a:prstGeom>
          <a:solidFill>
            <a:srgbClr val="1E3A8A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238250" y="871538"/>
            <a:ext cx="295318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6B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· BILAN CRITIQUE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562284" y="838200"/>
            <a:ext cx="481830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6B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FORCES · LIMITES · PERSPECTIVES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47750" y="1728788"/>
            <a:ext cx="1667827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REGARD HONNÊTE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47750" y="2195513"/>
            <a:ext cx="16678275" cy="702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800" spc="-96" kern="0" dirty="0">
                <a:solidFill>
                  <a:srgbClr val="0B0B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système qui marche aujourd'hui — </a:t>
            </a:r>
            <a:pPr algn="l" indent="0" marL="0">
              <a:lnSpc>
                <a:spcPct val="98000"/>
              </a:lnSpc>
              <a:buNone/>
            </a:pPr>
            <a:r>
              <a:rPr lang="en-US" sz="4800" i="1" spc="-96" kern="0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 qui peut grandir.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1047750" y="3526334"/>
            <a:ext cx="5168801" cy="5436691"/>
          </a:xfrm>
          <a:prstGeom prst="roundRect">
            <a:avLst>
              <a:gd name="adj" fmla="val 1106"/>
            </a:avLst>
          </a:prstGeom>
          <a:solidFill>
            <a:srgbClr val="DDE1ED"/>
          </a:solidFill>
          <a:ln w="9525">
            <a:solidFill>
              <a:srgbClr val="D7D1C2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362075" y="4231184"/>
            <a:ext cx="4540151" cy="9525"/>
          </a:xfrm>
          <a:prstGeom prst="rect">
            <a:avLst/>
          </a:prstGeom>
          <a:solidFill>
            <a:srgbClr val="0B0B0C">
              <a:alpha val="90000"/>
            </a:srgbClr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362075" y="3840659"/>
            <a:ext cx="467635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0B0B0C">
                    <a:alpha val="9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FORCES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62075" y="4412159"/>
            <a:ext cx="467635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spc="-22" kern="0" dirty="0">
                <a:solidFill>
                  <a:srgbClr val="0B0B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qui tient déjà.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571625" y="4974134"/>
            <a:ext cx="4466805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 &gt; 0.99 </a:t>
            </a:r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 les 4 modèles — prédictions ultra-précises.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71625" y="5724525"/>
            <a:ext cx="4466805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modulaire et </a:t>
            </a:r>
            <a:pPr algn="l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Docker-ready</a:t>
            </a:r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71625" y="6166396"/>
            <a:ext cx="4466805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REST documentée et scalable (FastAPI).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71625" y="6916787"/>
            <a:ext cx="4466805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7 pages — clair/sombre, responsive.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71625" y="7667179"/>
            <a:ext cx="4466805" cy="674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reproductible ( </a:t>
            </a:r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splits.pkl</a:t>
            </a:r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joblib).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559451" y="3526334"/>
            <a:ext cx="5168950" cy="5436691"/>
          </a:xfrm>
          <a:prstGeom prst="roundRect">
            <a:avLst>
              <a:gd name="adj" fmla="val 1106"/>
            </a:avLst>
          </a:prstGeom>
          <a:solidFill>
            <a:srgbClr val="E2ECFE"/>
          </a:solidFill>
          <a:ln w="9525">
            <a:solidFill>
              <a:srgbClr val="D7D1C2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873776" y="4231184"/>
            <a:ext cx="4540300" cy="9525"/>
          </a:xfrm>
          <a:prstGeom prst="rect">
            <a:avLst/>
          </a:prstGeom>
          <a:solidFill>
            <a:srgbClr val="0B0B0C">
              <a:alpha val="90000"/>
            </a:srgbClr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873776" y="3840659"/>
            <a:ext cx="467650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0B0B0C">
                    <a:alpha val="9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LIMITES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873776" y="4412159"/>
            <a:ext cx="467650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spc="-22" kern="0" dirty="0">
                <a:solidFill>
                  <a:srgbClr val="0B0B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qu'il faut nuancer.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7083326" y="4974134"/>
            <a:ext cx="4466959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</a:t>
            </a:r>
            <a:pPr algn="l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synthétique </a:t>
            </a:r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à valider sur données réelles.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083326" y="5724525"/>
            <a:ext cx="4466959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de feedback ni de ré-entraînement automatique.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083326" y="6474916"/>
            <a:ext cx="4466959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Saisonnalité et tendances non modélisées.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083326" y="7225308"/>
            <a:ext cx="4466959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i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Influencer </a:t>
            </a:r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traité comme variable catégorielle simple.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083326" y="7975699"/>
            <a:ext cx="4466959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d'authentification sur l'API publique.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2071300" y="3526334"/>
            <a:ext cx="5168950" cy="5436691"/>
          </a:xfrm>
          <a:prstGeom prst="roundRect">
            <a:avLst>
              <a:gd name="adj" fmla="val 1106"/>
            </a:avLst>
          </a:prstGeom>
          <a:solidFill>
            <a:srgbClr val="0B0B0C"/>
          </a:solidFill>
          <a:ln w="9525">
            <a:solidFill>
              <a:srgbClr val="D7D1C2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2385625" y="4231184"/>
            <a:ext cx="4540300" cy="9525"/>
          </a:xfrm>
          <a:prstGeom prst="rect">
            <a:avLst/>
          </a:prstGeom>
          <a:solidFill>
            <a:srgbClr val="3B82F6">
              <a:alpha val="90000"/>
            </a:srgbClr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12385625" y="3840659"/>
            <a:ext cx="467650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3B82F6">
                    <a:alpha val="9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PERSPECTIVES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2385625" y="4412159"/>
            <a:ext cx="467650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spc="-22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qui vient ensuite.</a:t>
            </a:r>
            <a:endParaRPr lang="en-US" sz="2250" dirty="0"/>
          </a:p>
        </p:txBody>
      </p:sp>
      <p:sp>
        <p:nvSpPr>
          <p:cNvPr id="30" name="Text 28"/>
          <p:cNvSpPr/>
          <p:nvPr/>
        </p:nvSpPr>
        <p:spPr>
          <a:xfrm>
            <a:off x="12595175" y="4974134"/>
            <a:ext cx="4466959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Intégration APIs réelles ( </a:t>
            </a:r>
            <a:pPr algn="l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Ads, Meta Ads </a:t>
            </a:r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2595175" y="5724525"/>
            <a:ext cx="4466959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Séries temporelles (</a:t>
            </a:r>
            <a:pPr algn="l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Prophet, LSTM</a:t>
            </a:r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2595175" y="6166396"/>
            <a:ext cx="4466959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Ré-entraînement automatique (MLOps, Airflow).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2595175" y="6916787"/>
            <a:ext cx="4466959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Attribution multi-touch (</a:t>
            </a:r>
            <a:pPr algn="l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Shapley values</a:t>
            </a:r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2595175" y="7358658"/>
            <a:ext cx="4466959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Déploiement cloud GCP / AWS + auto-scaling.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047750" y="9191625"/>
            <a:ext cx="52044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9793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 LIVRABLE + UNE FEUILLE DE ROUTE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6199941" y="9191625"/>
            <a:ext cx="111650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9793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11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0B0C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47750" y="1300163"/>
            <a:ext cx="16192500" cy="9525"/>
          </a:xfrm>
          <a:prstGeom prst="rect">
            <a:avLst/>
          </a:prstGeom>
          <a:solidFill>
            <a:srgbClr val="2A2A2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047750" y="971550"/>
            <a:ext cx="57150" cy="5715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238250" y="871538"/>
            <a:ext cx="2339727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8E8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· CONCLUSION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64108" y="838200"/>
            <a:ext cx="450742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8E8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RÉCAPITULATIF &amp; REMERCIEMENTS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47750" y="1728788"/>
            <a:ext cx="1667827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TROIS PILIERS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47750" y="2576513"/>
            <a:ext cx="14716125" cy="1272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500" spc="-90" kern="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Transformer un budget publicitaire en </a:t>
            </a:r>
            <a:pPr algn="l" indent="0" marL="0">
              <a:lnSpc>
                <a:spcPct val="108000"/>
              </a:lnSpc>
              <a:buNone/>
            </a:pPr>
            <a:r>
              <a:rPr lang="en-US" sz="4500" i="1" spc="-90" kern="0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décision data-driven </a:t>
            </a:r>
            <a:pPr algn="l" indent="0" marL="0">
              <a:lnSpc>
                <a:spcPct val="108000"/>
              </a:lnSpc>
              <a:buNone/>
            </a:pPr>
            <a:r>
              <a:rPr lang="en-US" sz="4500" spc="-90" kern="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précise, explicable, actionnable.</a:t>
            </a:r>
            <a:endParaRPr lang="en-US" sz="4500" dirty="0"/>
          </a:p>
        </p:txBody>
      </p:sp>
      <p:sp>
        <p:nvSpPr>
          <p:cNvPr id="9" name="Text 7"/>
          <p:cNvSpPr/>
          <p:nvPr/>
        </p:nvSpPr>
        <p:spPr>
          <a:xfrm>
            <a:off x="1047750" y="4191893"/>
            <a:ext cx="524537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PERFORMANCE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47750" y="4582418"/>
            <a:ext cx="5245379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spc="-29" kern="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R² &gt; 0.99.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1047750" y="5125343"/>
            <a:ext cx="5245379" cy="10779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8E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Quatre modèles ML évalués par </a:t>
            </a:r>
            <a:pPr algn="l" indent="0" marL="0">
              <a:lnSpc>
                <a:spcPct val="140000"/>
              </a:lnSpc>
              <a:buNone/>
            </a:pPr>
            <a:r>
              <a:rPr lang="en-US" sz="1950" i="1" dirty="0">
                <a:solidFill>
                  <a:srgbClr val="8E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cross-validation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8E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 sélectionnés via RandomizedSearchCV.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6597551" y="4191893"/>
            <a:ext cx="524553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SCALABILITÉ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97551" y="4582418"/>
            <a:ext cx="5245532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spc="-29" kern="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Docker-ready.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6597551" y="5125343"/>
            <a:ext cx="5245532" cy="10779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8E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FastAPI indépendante du frontend, extensible à de nouveaux canaux sans refonte.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2147500" y="4191893"/>
            <a:ext cx="524553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EXPLICABILITÉ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147500" y="4582418"/>
            <a:ext cx="5245532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spc="-29" kern="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Tout est justifié.</a:t>
            </a:r>
            <a:endParaRPr lang="en-US" sz="2850" dirty="0"/>
          </a:p>
        </p:txBody>
      </p:sp>
      <p:sp>
        <p:nvSpPr>
          <p:cNvPr id="17" name="Text 15"/>
          <p:cNvSpPr/>
          <p:nvPr/>
        </p:nvSpPr>
        <p:spPr>
          <a:xfrm>
            <a:off x="12147500" y="5125343"/>
            <a:ext cx="5245532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8E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pages — importance des features, sensibilité par canal, planification inverse.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1047750" y="7162800"/>
            <a:ext cx="16192500" cy="9525"/>
          </a:xfrm>
          <a:prstGeom prst="rect">
            <a:avLst/>
          </a:prstGeom>
          <a:solidFill>
            <a:srgbClr val="2A2A2C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051560" y="7772400"/>
            <a:ext cx="822960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Merci pour votre attention.</a:t>
            </a:r>
            <a:endParaRPr lang="en-US" sz="30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36862" y="7439025"/>
            <a:ext cx="2103388" cy="6858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2115819" y="8277225"/>
            <a:ext cx="5124431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1800" spc="144" kern="0" dirty="0">
                <a:solidFill>
                  <a:srgbClr val="8E8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CHUEMBOU ADRIEN · QUANG DAT</a:t>
            </a:r>
            <a:endParaRPr lang="en-US" sz="1800" dirty="0"/>
          </a:p>
          <a:p>
            <a:pPr algn="r" indent="0" marL="0">
              <a:lnSpc>
                <a:spcPct val="150000"/>
              </a:lnSpc>
              <a:buNone/>
            </a:pPr>
            <a:r>
              <a:rPr lang="en-US" sz="1800" spc="144" kern="0" dirty="0">
                <a:solidFill>
                  <a:srgbClr val="8E8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M1 DATA SCIENCE &amp; IA · 2025–2026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047750" y="9191625"/>
            <a:ext cx="336769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8E8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6199941" y="9191625"/>
            <a:ext cx="111650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8E8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11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2026-05-22T12:50:51Z</dcterms:created>
  <dcterms:modified xsi:type="dcterms:W3CDTF">2026-05-22T12:50:51Z</dcterms:modified>
</cp:coreProperties>
</file>
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182880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182880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182880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82880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182880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182880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3192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3192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192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3192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3192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3192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3192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192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192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3192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264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9264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9264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9264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9264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9264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45336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545336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545336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45336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45336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45336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45336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45336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45336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45336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545336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45336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121408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121408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121408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121408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121408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21408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21408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121408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21408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21408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121408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21408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697479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697479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697479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697479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697479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697479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697479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697479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697479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697479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697479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697479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273552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273552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273552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273552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273552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73552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73552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73552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273552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273552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73552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73552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9624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9624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9624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9624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9624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849624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849624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849624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849624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849624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49624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49624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425696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425696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425696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425696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425696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425696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425696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425696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425696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425696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425696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425696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001768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001768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001768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001768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001768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001768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001768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001768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001768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001768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001768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001768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577840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577840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577840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577840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577840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577840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577840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577840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577840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577840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577840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577840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153912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153912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153912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153912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153912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153912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153912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153912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153912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153912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153912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153912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729984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729984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729984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729984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729984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729984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729984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729984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729984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729984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729984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729984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06055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06055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06055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06055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06055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06055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06055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06055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06055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06055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306055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306055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82128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82128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82128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82128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82128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82128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82128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82128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82128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882128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882128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882128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458200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458200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458200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458200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458200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458200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458200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458200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458200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458200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458200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458200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034272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034272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034272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034272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034272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9034272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9034272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034272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034272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034272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034272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034272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610344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610344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610344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610344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610344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610344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610344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610344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610344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610344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610344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610344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186416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186416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0186416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186416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186416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186416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186416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186416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186416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186416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86416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186416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62488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762488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762488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762488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762488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762488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762488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762488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762488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762488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762488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762488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1338560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1338560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1338560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38560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38560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38560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38560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38560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38560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38560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38560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38560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914632" y="-914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914632" y="52120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914632" y="113385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914632" y="174650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914632" y="235915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914632" y="297180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914632" y="358444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914632" y="4197096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914632" y="4809744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914632" y="5422392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914632" y="6035040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914632" y="6647688"/>
            <a:ext cx="36576" cy="36576"/>
          </a:xfrm>
          <a:prstGeom prst="ellipse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411480" y="1600200"/>
            <a:ext cx="82296" cy="2377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685800" y="1572768"/>
            <a:ext cx="8229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E2E8F0"/>
                </a:solidFill>
                <a:latin typeface="Calibri"/>
              </a:rPr>
              <a:t>ROI Intelligence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685800" y="2560320"/>
            <a:ext cx="530352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85800" y="2697480"/>
            <a:ext cx="8229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3B82F6"/>
                </a:solidFill>
                <a:latin typeface="Calibri"/>
              </a:rPr>
              <a:t>Optimisation du retour sur investissement marketing
par le Machine Learning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85800" y="349300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Système de prédiction multi-modèles et tableau de bord décisionnel en temps réel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457200" y="4663440"/>
            <a:ext cx="11247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Soutenance · EFREI Paris · M1 Data Science &amp; IA · 2025–2026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7200" y="5138928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CHUEMBOU ADRIEN  ·  QUANG DAT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9326880" y="1645920"/>
            <a:ext cx="1261872" cy="1078992"/>
          </a:xfrm>
          <a:prstGeom prst="roundRect">
            <a:avLst/>
          </a:prstGeom>
          <a:solidFill>
            <a:srgbClr val="121C30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381744" y="1755648"/>
            <a:ext cx="11521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Calibri"/>
              </a:rPr>
              <a:t>R²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9381744" y="2267712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Score modèle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10744200" y="1645920"/>
            <a:ext cx="1261872" cy="1078992"/>
          </a:xfrm>
          <a:prstGeom prst="roundRect">
            <a:avLst/>
          </a:prstGeom>
          <a:solidFill>
            <a:srgbClr val="121C30"/>
          </a:solidFill>
          <a:ln w="1143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799064" y="1755648"/>
            <a:ext cx="11521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alibri"/>
              </a:rPr>
              <a:t>×4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799064" y="2267712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Modèles ML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9326880" y="2852928"/>
            <a:ext cx="1261872" cy="1078992"/>
          </a:xfrm>
          <a:prstGeom prst="roundRect">
            <a:avLst/>
          </a:prstGeom>
          <a:solidFill>
            <a:srgbClr val="121C30"/>
          </a:solidFill>
          <a:ln w="1143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381744" y="2962656"/>
            <a:ext cx="11521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  <a:latin typeface="Calibri"/>
              </a:rPr>
              <a:t>×7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9381744" y="3474720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Pages dash.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10744200" y="2852928"/>
            <a:ext cx="1261872" cy="1078992"/>
          </a:xfrm>
          <a:prstGeom prst="roundRect">
            <a:avLst/>
          </a:prstGeom>
          <a:solidFill>
            <a:srgbClr val="121C30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0799064" y="2962656"/>
            <a:ext cx="11521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&lt;50ms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0799064" y="3474720"/>
            <a:ext cx="11521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API latence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Les budgets publicitaires sont encore trop souvent alloués à l'intuition — pas à la donnée.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35023"/>
            <a:ext cx="5349240" cy="5111496"/>
          </a:xfrm>
          <a:prstGeom prst="roundRect">
            <a:avLst/>
          </a:prstGeom>
          <a:solidFill>
            <a:srgbClr val="140D0D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16752" y="1335023"/>
            <a:ext cx="5349240" cy="5111496"/>
          </a:xfrm>
          <a:prstGeom prst="roundRect">
            <a:avLst/>
          </a:prstGeom>
          <a:solidFill>
            <a:srgbClr val="0A1325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72183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❌  Approche traditionnelle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472183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Notre approche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37943"/>
            <a:ext cx="5029200" cy="13716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837943"/>
            <a:ext cx="502920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2084831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993391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Allocation empirique basée sur l'expérience passée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2084831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993391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Modèles entraînés sur 4 572 campagnes documentées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" y="2578608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487168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Aucune corrélation mesurée entre budget et revenu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578608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487168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Prédiction du CA en temps réel selon le budget alloué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" y="3072384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980944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Décisions prises a posteriori, après les campagnes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072384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980944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4 canaux : TV · Radio · Social Media · Influenceur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" y="3566160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474720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Même budget, résultats imprévisibles selon les canaux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3566160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3474720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R² &gt; 0.994 — corrélation quasi-parfaite avec les ventes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" y="4059935"/>
            <a:ext cx="64008" cy="640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968496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Impossible de simuler l'impact avant d'engager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059935"/>
            <a:ext cx="64008" cy="640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3968496"/>
            <a:ext cx="4846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Simulation live : le revenu s'affiche instantanément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59" y="1517903"/>
            <a:ext cx="73152" cy="47457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9672"/>
            <a:ext cx="11247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L'enjeu : transformer une intuition budgétaire en décision data-driven, mesurable et reproductible.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Objectifs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Quatre ambitions concrètes, de la donnée brute à la décision business éclairée.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35023"/>
            <a:ext cx="5394960" cy="221284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499615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17903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Prédire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93391"/>
            <a:ext cx="50292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84831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Construire 4 modèles ML capables de prédire le chiffre d'affaires
à partir du mix budgétaire TV · Radio · Social Media · Influenceur.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335023"/>
            <a:ext cx="5394960" cy="221284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72784" y="1499615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1517903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Comparer &amp; Sélectionner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993391"/>
            <a:ext cx="50292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084831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Évaluer chaque modèle via validation croisée 5 plis (R², MAE, RMSE)
et sélectionner automatiquement le plus performant.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749039"/>
            <a:ext cx="5394960" cy="221284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3913631"/>
            <a:ext cx="530352" cy="5303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93192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Exposer via API 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407407"/>
            <a:ext cx="50292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498848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Déployer les modèles entraînés via une API FastAPI scalable,
interrogeable en temps réel par n'importe quel client.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749039"/>
            <a:ext cx="5394960" cy="221284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72784" y="391363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3931920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Visualiser &amp; Décider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4407407"/>
            <a:ext cx="50292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4498848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Proposer un dashboard interactif en 7 pages permettant
de simuler, comparer et optimiser les allocations budgétaires.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Architecture de 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Cinq couches modulaires — de la donnée brute à la décision business.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35023"/>
            <a:ext cx="10972800" cy="640080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35023"/>
            <a:ext cx="100584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" y="1481327"/>
            <a:ext cx="1417320" cy="3108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2E8F0"/>
                </a:solidFill>
                <a:latin typeface="Calibri"/>
              </a:rPr>
              <a:t>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26463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data/Dummy Data HSS.csv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00784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4 572 lignes · TV, Radio, Social Media, Influencer,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42432" y="1984247"/>
            <a:ext cx="6400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093975"/>
            <a:ext cx="10972800" cy="640080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93975"/>
            <a:ext cx="10058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2240279"/>
            <a:ext cx="1417320" cy="3108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2E8F0"/>
                </a:solidFill>
                <a:latin typeface="Calibri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85415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src/preprocessing.py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59735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StandardScaler + OneHotEncoder · Pipeline sklearn · Imputation médiane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2432" y="2743199"/>
            <a:ext cx="6400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852927"/>
            <a:ext cx="10972800" cy="640080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52927"/>
            <a:ext cx="10058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" y="2999232"/>
            <a:ext cx="14173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2E8F0"/>
                </a:solidFill>
                <a:latin typeface="Calibri"/>
              </a:rPr>
              <a:t>ENTRAÎNEMENT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94436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src/train.py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218687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RandomizedSearchCV · 15 iter · 5-fold CV · 4 algorithmes → .pkl (joblib)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3502151"/>
            <a:ext cx="6400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611879"/>
            <a:ext cx="10972800" cy="640080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11879"/>
            <a:ext cx="10058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" y="3758183"/>
            <a:ext cx="1417320" cy="3108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2E8F0"/>
                </a:solidFill>
                <a:latin typeface="Calibri"/>
              </a:rPr>
              <a:t>API 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703319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api/main.py — 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977639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/predict · /predict/all · /metrics · /feature-importance · /stats · /health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2" y="4261103"/>
            <a:ext cx="6400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370831"/>
            <a:ext cx="10972800" cy="640080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70831"/>
            <a:ext cx="10058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" y="4517136"/>
            <a:ext cx="1417320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2E8F0"/>
                </a:solidFill>
                <a:latin typeface="Calibri"/>
              </a:rP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462271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dashboard-next/ — Next.js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736592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TypeScript · Tailwind CSS · Recharts · Framer Motion · 7 pages · Clair/Sombre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84647"/>
            <a:ext cx="112471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⚡  docker-compose up  —  API :8000  ·  Dashboard :3000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Pipeline ML : de la donnée brute à la prédiction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Un pipeline rigoureusement validé — de la saisie brute à l'inférence en moins de 50 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303" y="1472183"/>
            <a:ext cx="1755648" cy="205740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2951" y="1618487"/>
            <a:ext cx="530352" cy="53035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455" y="2240279"/>
            <a:ext cx="160934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  <a:latin typeface="Calibri"/>
              </a:rPr>
              <a:t>load_data()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463" y="2734055"/>
            <a:ext cx="1481328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1743" y="2825496"/>
            <a:ext cx="157276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CSV · 4 572 lignes
Validation schéma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5095" y="2299715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7391" y="1472183"/>
            <a:ext cx="1755648" cy="205740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0039" y="1618487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543" y="2240279"/>
            <a:ext cx="160934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  <a:latin typeface="Calibri"/>
              </a:rPr>
              <a:t>build_preprocessor()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4551" y="2734055"/>
            <a:ext cx="1481328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8831" y="2825496"/>
            <a:ext cx="157276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StandardScaler
+ OneHotEncoder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2183" y="2299715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4479" y="1472183"/>
            <a:ext cx="1755648" cy="205740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07127" y="1618487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7631" y="2240279"/>
            <a:ext cx="160934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  <a:latin typeface="Calibri"/>
              </a:rPr>
              <a:t>tune()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1639" y="2734055"/>
            <a:ext cx="1481328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5919" y="2825496"/>
            <a:ext cx="157276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RandomizedSearchCV
15 iter · 5-fold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9271" y="2299715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567" y="1472183"/>
            <a:ext cx="1755648" cy="205740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54215" y="1618487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4719" y="2240279"/>
            <a:ext cx="160934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  <a:latin typeface="Calibri"/>
              </a:rPr>
              <a:t>train_all()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8727" y="2734055"/>
            <a:ext cx="1481328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3007" y="2825496"/>
            <a:ext cx="157276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4 modèles .pkl
splits.pkl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6359" y="2299715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8655" y="1472183"/>
            <a:ext cx="1755648" cy="205740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01303" y="161848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1807" y="2240279"/>
            <a:ext cx="160934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  <a:latin typeface="Calibri"/>
              </a:rPr>
              <a:t>FastAPI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5815" y="2734055"/>
            <a:ext cx="1481328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0095" y="2825496"/>
            <a:ext cx="157276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Lifespan loading
&lt; 50ms / req.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447" y="2299715"/>
            <a:ext cx="146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5743" y="1472183"/>
            <a:ext cx="1755648" cy="205740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48391" y="1618487"/>
            <a:ext cx="530352" cy="5303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2E8F0"/>
                </a:solidFill>
                <a:latin typeface="Calibri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8895" y="2240279"/>
            <a:ext cx="160934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2E8F0"/>
                </a:solidFill>
                <a:latin typeface="Calibri"/>
              </a:rPr>
              <a:t>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72903" y="2734055"/>
            <a:ext cx="1481328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7183" y="2825496"/>
            <a:ext cx="157276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Sliders → API
Temps réel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3712463"/>
            <a:ext cx="9601200" cy="438912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3794759"/>
            <a:ext cx="9235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🔒  models/splits.pkl garantit la reproductibilité : métriques toujours calculées sur le même jeu de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Les 4 modèles ML — Performances comparées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Tous les modèles dépassent R² = 0.99 — le Random Forest s'impose comme référence.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35023"/>
            <a:ext cx="6492240" cy="384048"/>
          </a:xfrm>
          <a:prstGeom prst="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7"/>
            <a:ext cx="256032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89887"/>
            <a:ext cx="137160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R² moyen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89887"/>
            <a:ext cx="128016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Écart-type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89887"/>
            <a:ext cx="91440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Statut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19071"/>
            <a:ext cx="6492240" cy="475488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19071"/>
            <a:ext cx="73152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0511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🏆 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10511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0.9965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810511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±0.0028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810511"/>
            <a:ext cx="868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85415"/>
            <a:ext cx="649224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94559"/>
            <a:ext cx="6492240" cy="47548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85999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285999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0.9964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85999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±0.0028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285999"/>
            <a:ext cx="868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60903"/>
            <a:ext cx="649224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70048"/>
            <a:ext cx="649224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761488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Régression Linéaire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2761488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0.9956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761488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±0.0032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761488"/>
            <a:ext cx="868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36392"/>
            <a:ext cx="649224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145535"/>
            <a:ext cx="6492240" cy="475488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236975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MLP Neural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236975"/>
            <a:ext cx="1325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0.9941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236975"/>
            <a:ext cx="1234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±0.0034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236975"/>
            <a:ext cx="868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11879"/>
            <a:ext cx="649224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335023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R² par modèle (5-fold CV)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1911095"/>
            <a:ext cx="33832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1911095"/>
            <a:ext cx="296037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1837943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Random Forest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1632" y="1892807"/>
            <a:ext cx="804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0.9965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2459736"/>
            <a:ext cx="33832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0" y="2459736"/>
            <a:ext cx="2875787" cy="292608"/>
          </a:xfrm>
          <a:prstGeom prst="rect">
            <a:avLst/>
          </a:prstGeom>
          <a:solidFill>
            <a:srgbClr val="30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2386584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Gradient Boosting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71632" y="2441448"/>
            <a:ext cx="804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  <a:latin typeface="Calibri"/>
              </a:rPr>
              <a:t>0.9964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008376"/>
            <a:ext cx="33832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0" y="3008376"/>
            <a:ext cx="2199132" cy="292608"/>
          </a:xfrm>
          <a:prstGeom prst="rect">
            <a:avLst/>
          </a:prstGeom>
          <a:solidFill>
            <a:srgbClr val="30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2935224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Régression Lin.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71632" y="2990088"/>
            <a:ext cx="804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Calibri"/>
              </a:rPr>
              <a:t>0.9956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3557015"/>
            <a:ext cx="33832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0" y="3557015"/>
            <a:ext cx="930401" cy="292608"/>
          </a:xfrm>
          <a:prstGeom prst="rect">
            <a:avLst/>
          </a:prstGeom>
          <a:solidFill>
            <a:srgbClr val="30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3483863"/>
            <a:ext cx="3383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MLP Neural Net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3538727"/>
            <a:ext cx="8046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0.9941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4215383"/>
            <a:ext cx="4572000" cy="1325880"/>
          </a:xfrm>
          <a:prstGeom prst="roundRect">
            <a:avLst/>
          </a:prstGeom>
          <a:solidFill>
            <a:srgbClr val="0A163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4306823"/>
            <a:ext cx="4206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🏆  Meilleur modèle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599431"/>
            <a:ext cx="4206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Random Forest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5056631"/>
            <a:ext cx="4206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R² = 0.9965  ·  Explique 99.65% de la variance des ventes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Dashboard — 7 pages d'intelligence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De la prédiction brute à l'optimisation stratégique — chaque page répond à une question business précise.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35023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35023"/>
            <a:ext cx="354787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63039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📊  Accueil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847087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920239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Vue globale · KPIs · corrélation canaux · benchmark revenus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35023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35023"/>
            <a:ext cx="3547872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39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🎯  Prévision des revenus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47087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20239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Sliders · prédiction temps réel · ROI · consensus 4 modèles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8" y="1335023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82128" y="1335023"/>
            <a:ext cx="354787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463039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⚙️  Optimiseur budgétaire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847087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920239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Présets · sensibilité TV · comparaison des modèles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2752344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" y="2752344"/>
            <a:ext cx="354787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880360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🗺️  Planificateur cible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264408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337560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Objectif → budget optimal · inversion modèle · Monte Carlo RF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52344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2752344"/>
            <a:ext cx="354787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880360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🤖  Comparaison modèles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264408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337560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Métriques · diagramme radar · matrice de confusion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8" y="2752344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82128" y="2752344"/>
            <a:ext cx="3547872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2880360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💡  Insights &amp; Corrélations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9288" y="3264408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3337560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Importance features · corrélation · ROI par influenceur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1911" y="4169663"/>
            <a:ext cx="3547872" cy="1234440"/>
          </a:xfrm>
          <a:prstGeom prst="roundRect">
            <a:avLst/>
          </a:prstGeom>
          <a:solidFill>
            <a:srgbClr val="0F172A"/>
          </a:solidFill>
          <a:ln w="762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1911" y="4169663"/>
            <a:ext cx="3547872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59071" y="4297679"/>
            <a:ext cx="3273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📈  Feature Importance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59071" y="4681727"/>
            <a:ext cx="3273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9071" y="4754879"/>
            <a:ext cx="3273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Classement SHAP · permutation importance · stats canal-revenu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Démonstration — du budget au ROI en temps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Cas réel : 90M€ TV · 10M€ Radio · 2M€ Social Media · Influenceur Mega.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2267" y="1335023"/>
            <a:ext cx="3703320" cy="420624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5147" y="1499615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2E8F0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227" y="153619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Ajuster les sliders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227" y="1901951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  <a:latin typeface="Calibri"/>
              </a:rPr>
              <a:t>Interface Framer Motion
aucun bouton requis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859" y="2359152"/>
            <a:ext cx="3374136" cy="1828800"/>
          </a:xfrm>
          <a:prstGeom prst="roundRect">
            <a:avLst/>
          </a:prstGeom>
          <a:solidFill>
            <a:srgbClr val="070F1C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875" y="2542032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TV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4875" y="2788920"/>
            <a:ext cx="3081527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4875" y="2788920"/>
            <a:ext cx="2773375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86810" y="2743200"/>
            <a:ext cx="182880" cy="18288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2043" y="2542032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3B82F6"/>
                </a:solidFill>
                <a:latin typeface="Calibri"/>
              </a:rPr>
              <a:t>90M€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875" y="308152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Radio Budget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875" y="3328416"/>
            <a:ext cx="3081527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875" y="3328416"/>
            <a:ext cx="308152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1588" y="3282696"/>
            <a:ext cx="182880" cy="18288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2043" y="308152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B5CF6"/>
                </a:solidFill>
                <a:latin typeface="Calibri"/>
              </a:rPr>
              <a:t>10M€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875" y="362102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Social Media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4875" y="3867912"/>
            <a:ext cx="3081527" cy="1280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4875" y="3867912"/>
            <a:ext cx="123261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696" y="3822191"/>
            <a:ext cx="182880" cy="18288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2043" y="362102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6B6D4"/>
                </a:solidFill>
                <a:latin typeface="Calibri"/>
              </a:rPr>
              <a:t>2M€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859" y="4242816"/>
            <a:ext cx="3374136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859" y="4297680"/>
            <a:ext cx="33741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Interface Framer Motion
aucun bouton requis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4187" y="1335023"/>
            <a:ext cx="3703320" cy="420624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27067" y="1499615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2E8F0"/>
                </a:solidFill>
                <a:latin typeface="Calibri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7147" y="153619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Prédiction &lt; 50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7147" y="1901951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Random Forest via API
ROI · efficacité · classe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8779" y="2359152"/>
            <a:ext cx="3374136" cy="1828800"/>
          </a:xfrm>
          <a:prstGeom prst="roundRect">
            <a:avLst/>
          </a:prstGeom>
          <a:solidFill>
            <a:srgbClr val="070F1C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00219" y="2542032"/>
            <a:ext cx="969264" cy="13258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5939" y="2633472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Revenue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5939" y="2926080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$12.4M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9211" y="2542032"/>
            <a:ext cx="969264" cy="13258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4931" y="2633472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4931" y="2926080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+1140%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8203" y="2542032"/>
            <a:ext cx="969264" cy="1325880"/>
          </a:xfrm>
          <a:prstGeom prst="roundRect">
            <a:avLst/>
          </a:prstGeom>
          <a:solidFill>
            <a:srgbClr val="0F172A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3923" y="2633472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Eff.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3923" y="2926080"/>
            <a:ext cx="914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11.2×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8779" y="4242816"/>
            <a:ext cx="3374136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08779" y="4297680"/>
            <a:ext cx="33741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Random Forest via API
ROI · efficacité · classe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76107" y="1335023"/>
            <a:ext cx="3703320" cy="4206240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58987" y="1499615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2E8F0"/>
                </a:solidFill>
                <a:latin typeface="Calibri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9067" y="153619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Analyser &amp; Optimiser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9067" y="1901951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4 modèles comparés
Planificateur budgétaire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40699" y="2359152"/>
            <a:ext cx="3374136" cy="1828800"/>
          </a:xfrm>
          <a:prstGeom prst="roundRect">
            <a:avLst/>
          </a:prstGeom>
          <a:solidFill>
            <a:srgbClr val="070F1C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50427" y="2615184"/>
            <a:ext cx="3044952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50427" y="2615184"/>
            <a:ext cx="2984052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0427" y="2560320"/>
            <a:ext cx="182697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Rand. Forest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31955" y="2596896"/>
            <a:ext cx="411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0.98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0427" y="3017520"/>
            <a:ext cx="3044952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50427" y="3017520"/>
            <a:ext cx="2923153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0427" y="2962656"/>
            <a:ext cx="182697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Grad. Boost.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31955" y="2999232"/>
            <a:ext cx="411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0.96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0427" y="3419856"/>
            <a:ext cx="3044952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50427" y="3419856"/>
            <a:ext cx="2679557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0427" y="3364992"/>
            <a:ext cx="182697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Lin. Reg.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31955" y="3401568"/>
            <a:ext cx="411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0.88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0427" y="3822191"/>
            <a:ext cx="3044952" cy="2377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50427" y="3822191"/>
            <a:ext cx="249686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0427" y="3767328"/>
            <a:ext cx="182697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MLP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31955" y="3803904"/>
            <a:ext cx="411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0.82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0699" y="4242816"/>
            <a:ext cx="3374136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40699" y="4297680"/>
            <a:ext cx="337413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4 modèles comparés
Planificateur budgétaire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Bilan 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59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Un système performant et démontrable aujourd'hui, avec une trajectoire claire d'amélioration.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70431"/>
            <a:ext cx="12801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1335023"/>
            <a:ext cx="3566160" cy="5202936"/>
          </a:xfrm>
          <a:prstGeom prst="roundRect">
            <a:avLst/>
          </a:prstGeom>
          <a:solidFill>
            <a:srgbClr val="0F172A"/>
          </a:solidFill>
          <a:ln w="698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335023"/>
            <a:ext cx="35661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9615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💪  Forces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975103"/>
            <a:ext cx="32004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203703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12263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R² &gt; 0.99 sur les 4 modèles — prédictions ultra-précises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16351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24911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Architecture modulaire et Docker-ready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28999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37559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API REST documentée et scalable (FastAPI)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04164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950208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Dashboard : 7 pages, mode clair/sombre, responsive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654296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562856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Pipeline sklearn reproductible (splits.pkl, joblib)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266944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175504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Déployable : docker-compose 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335023"/>
            <a:ext cx="3566160" cy="5202936"/>
          </a:xfrm>
          <a:prstGeom prst="roundRect">
            <a:avLst/>
          </a:prstGeom>
          <a:solidFill>
            <a:srgbClr val="0F172A"/>
          </a:solidFill>
          <a:ln w="698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335023"/>
            <a:ext cx="3566160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499615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libri"/>
              </a:rPr>
              <a:t>⚠️  Limites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975103"/>
            <a:ext cx="32004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53128" y="2203703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2112263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Dataset synthétique — à valider sur données réelles</a:t>
            </a:r>
          </a:p>
        </p:txBody>
      </p:sp>
      <p:sp>
        <p:nvSpPr>
          <p:cNvPr id="27" name="Oval 26"/>
          <p:cNvSpPr/>
          <p:nvPr/>
        </p:nvSpPr>
        <p:spPr>
          <a:xfrm>
            <a:off x="4453128" y="2816351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2724911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Pas de feedback ni de ré-entraînement automatique</a:t>
            </a:r>
          </a:p>
        </p:txBody>
      </p:sp>
      <p:sp>
        <p:nvSpPr>
          <p:cNvPr id="29" name="Oval 28"/>
          <p:cNvSpPr/>
          <p:nvPr/>
        </p:nvSpPr>
        <p:spPr>
          <a:xfrm>
            <a:off x="4453128" y="3428999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8" y="3337559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Saisonnalité et tendances non modélisées</a:t>
            </a:r>
          </a:p>
        </p:txBody>
      </p:sp>
      <p:sp>
        <p:nvSpPr>
          <p:cNvPr id="31" name="Oval 30"/>
          <p:cNvSpPr/>
          <p:nvPr/>
        </p:nvSpPr>
        <p:spPr>
          <a:xfrm>
            <a:off x="4453128" y="404164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8" y="3950208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Influencer : variable catégorielle simple</a:t>
            </a:r>
          </a:p>
        </p:txBody>
      </p:sp>
      <p:sp>
        <p:nvSpPr>
          <p:cNvPr id="33" name="Oval 32"/>
          <p:cNvSpPr/>
          <p:nvPr/>
        </p:nvSpPr>
        <p:spPr>
          <a:xfrm>
            <a:off x="4453128" y="4654296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4562856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Pas d'authentification sur l'API publique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1335023"/>
            <a:ext cx="3566160" cy="5202936"/>
          </a:xfrm>
          <a:prstGeom prst="roundRect">
            <a:avLst/>
          </a:prstGeom>
          <a:solidFill>
            <a:srgbClr val="0F172A"/>
          </a:solidFill>
          <a:ln w="698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1335023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1499615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  <a:latin typeface="Calibri"/>
              </a:rPr>
              <a:t>🚀  Perspectives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7888" y="1975103"/>
            <a:ext cx="32004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2203703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6" y="2112263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Intégration APIs réelles (Google Ads, Meta Ads)</a:t>
            </a:r>
          </a:p>
        </p:txBody>
      </p:sp>
      <p:sp>
        <p:nvSpPr>
          <p:cNvPr id="41" name="Oval 40"/>
          <p:cNvSpPr/>
          <p:nvPr/>
        </p:nvSpPr>
        <p:spPr>
          <a:xfrm>
            <a:off x="8266176" y="2816351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2724911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Modèles de séries temporelles (Prophet, LSTM)</a:t>
            </a:r>
          </a:p>
        </p:txBody>
      </p:sp>
      <p:sp>
        <p:nvSpPr>
          <p:cNvPr id="43" name="Oval 42"/>
          <p:cNvSpPr/>
          <p:nvPr/>
        </p:nvSpPr>
        <p:spPr>
          <a:xfrm>
            <a:off x="8266176" y="3428999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3337559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Ré-entraînement automatique (MLOps, Airflow)</a:t>
            </a:r>
          </a:p>
        </p:txBody>
      </p:sp>
      <p:sp>
        <p:nvSpPr>
          <p:cNvPr id="45" name="Oval 44"/>
          <p:cNvSpPr/>
          <p:nvPr/>
        </p:nvSpPr>
        <p:spPr>
          <a:xfrm>
            <a:off x="8266176" y="404164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9056" y="3950208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Attribution multi-touch (Shapley values)</a:t>
            </a:r>
          </a:p>
        </p:txBody>
      </p:sp>
      <p:sp>
        <p:nvSpPr>
          <p:cNvPr id="47" name="Oval 46"/>
          <p:cNvSpPr/>
          <p:nvPr/>
        </p:nvSpPr>
        <p:spPr>
          <a:xfrm>
            <a:off x="8266176" y="4654296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49056" y="4562856"/>
            <a:ext cx="30632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Déploiement cloud : GCP / AWS + auto-scaling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474720" y="365760"/>
            <a:ext cx="5303520" cy="5303520"/>
          </a:xfrm>
          <a:prstGeom prst="ellipse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2E8F0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1005840"/>
            <a:ext cx="192024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ROI Intelligence démontre qu'il est possible de transformer un budget publicitaire
en décision data-driven — précise, explicable et actionnable.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2212848"/>
          </a:xfrm>
          <a:prstGeom prst="roundRect">
            <a:avLst/>
          </a:prstGeom>
          <a:solidFill>
            <a:srgbClr val="0D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84248" y="2267712"/>
            <a:ext cx="603504" cy="6035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2E8F0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27432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Quatre modèles ML avec R² &gt; 0.994, évalués par validation
croisée et sélectionnés via RandomizedSearchCV.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2103120"/>
            <a:ext cx="3474720" cy="2212848"/>
          </a:xfrm>
          <a:prstGeom prst="roundRect">
            <a:avLst/>
          </a:prstGeom>
          <a:solidFill>
            <a:srgbClr val="0D18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05856" y="2267712"/>
            <a:ext cx="603504" cy="6035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2E8F0"/>
                </a:solidFill>
                <a:latin typeface="Calibri"/>
              </a:rPr>
              <a:t>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0175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  <a:latin typeface="Calibri"/>
              </a:rPr>
              <a:t>Scalabilité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3474720"/>
            <a:ext cx="27432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5661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Architecture Docker-ready : API FastAPI indépendante
du frontend, extensible à de nouveaux canaux.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103120"/>
            <a:ext cx="3474720" cy="2212848"/>
          </a:xfrm>
          <a:prstGeom prst="roundRect">
            <a:avLst/>
          </a:prstGeom>
          <a:solidFill>
            <a:srgbClr val="0D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7464" y="2267712"/>
            <a:ext cx="603504" cy="60350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2E8F0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30175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  <a:latin typeface="Calibri"/>
              </a:rPr>
              <a:t>Explicabilité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57616" y="3474720"/>
            <a:ext cx="27432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661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Dashboard 7 pages : importance des features, sensibilité
par canal, planification inverse — tout est justifié.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17136"/>
            <a:ext cx="11247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08575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  <a:latin typeface="Calibri"/>
              </a:rPr>
              <a:t>Merci pour votre attention.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1091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Nous sommes disponibles pour répondre à vos questions.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0096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CHUEMBOU ADRIEN · QUANG DAT — EFREI Paris · M1 Data Science &amp; IA ·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
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365760"/>
            <a:ext cx="1645920" cy="164592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640080" cy="64008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274320"/>
            <a:ext cx="1005840" cy="100584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0" y="1645920"/>
            <a:ext cx="457200" cy="45720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79" y="2560320"/>
            <a:ext cx="548640" cy="54864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3200400"/>
            <a:ext cx="1280160" cy="128016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0" y="2926080"/>
            <a:ext cx="822960" cy="82296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0" y="4206240"/>
            <a:ext cx="1463040" cy="146304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0" y="5029200"/>
            <a:ext cx="731520" cy="73152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0" y="4572000"/>
            <a:ext cx="1097280" cy="109728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0" y="5669280"/>
            <a:ext cx="548640" cy="54864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0" y="5943600"/>
            <a:ext cx="640080" cy="640080"/>
          </a:xfrm>
          <a:prstGeom prst="ellipse">
            <a:avLst/>
          </a:prstGeom>
          <a:solidFill>
            <a:srgbClr val="173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0" y="1828800"/>
            <a:ext cx="2560320" cy="25603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2560320"/>
            <a:ext cx="1097280" cy="109728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5394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DBFE"/>
                </a:solidFill>
                <a:latin typeface="Segoe UI"/>
              </a:rPr>
              <a:t>EFREI Paris · M1 Data Science &amp; IA · 2025–2026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7607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CHUEMBOU ADRIEN  ·  QUANG DAT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005840"/>
            <a:ext cx="6400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F172A"/>
                </a:solidFill>
                <a:latin typeface="Segoe UI"/>
              </a:rPr>
              <a:t>ROI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0574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563EB"/>
                </a:solidFill>
                <a:latin typeface="Segoe UI"/>
              </a:rPr>
              <a:t>Optimisation du retour sur investissement marketing
par le Machine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971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Système de prédiction multi-modèles et tableau de bord décisionnel en temps réel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38404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886200"/>
            <a:ext cx="1481328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86200"/>
            <a:ext cx="59436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9319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Segoe UI"/>
              </a:rPr>
              <a:t>R² 0.9965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25196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Score modèle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" y="3886200"/>
            <a:ext cx="1481328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40280" y="3886200"/>
            <a:ext cx="59436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59152" y="39319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Segoe UI"/>
              </a:rPr>
              <a:t>×4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9152" y="425196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Modèles ML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3886200"/>
            <a:ext cx="1481328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3886200"/>
            <a:ext cx="59436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9352" y="39319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Segoe UI"/>
              </a:rPr>
              <a:t>×7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9352" y="425196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Pages dashboard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0680" y="3886200"/>
            <a:ext cx="1481328" cy="6583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3886200"/>
            <a:ext cx="59436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59552" y="393192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&lt;50ms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59552" y="425196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Latence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Les budgets publicitaires sont encore trop souvent alloués à l'intuition — pas à la donnée.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11183112" cy="42062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40AF"/>
                </a:solidFill>
                <a:latin typeface="Segoe UI"/>
              </a:rPr>
              <a:t>L'enjeu : transformer une intuition budgétaire en décision data-driven, mesurable et reproductible.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00784"/>
            <a:ext cx="5440680" cy="4709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64008" cy="4709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Segoe UI"/>
              </a:rPr>
              <a:t>❌  Approche traditionnelle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386584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Allocation empirique basée sur l'expérience passée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099816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0837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Aucune corrélation mesurée entre budget et revenu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813048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2160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Décisions prises a posteriori, après les campagnes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4526280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Même budget, résultats imprévisibles selon les canaux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5239512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480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Impossible de simuler l'impact avant d'engager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700784"/>
            <a:ext cx="5440680" cy="4709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700784"/>
            <a:ext cx="64008" cy="4709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18288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✅  Notre approche ML</a:t>
            </a:r>
          </a:p>
        </p:txBody>
      </p:sp>
      <p:sp>
        <p:nvSpPr>
          <p:cNvPr id="24" name="Oval 23"/>
          <p:cNvSpPr/>
          <p:nvPr/>
        </p:nvSpPr>
        <p:spPr>
          <a:xfrm>
            <a:off x="6455664" y="238658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229514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Modèles entraînés sur 4 572 campagnes documentées</a:t>
            </a:r>
          </a:p>
        </p:txBody>
      </p:sp>
      <p:sp>
        <p:nvSpPr>
          <p:cNvPr id="26" name="Oval 25"/>
          <p:cNvSpPr/>
          <p:nvPr/>
        </p:nvSpPr>
        <p:spPr>
          <a:xfrm>
            <a:off x="6455664" y="3099816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300837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Prédiction du CA en temps réel selon le budget alloué</a:t>
            </a:r>
          </a:p>
        </p:txBody>
      </p:sp>
      <p:sp>
        <p:nvSpPr>
          <p:cNvPr id="28" name="Oval 27"/>
          <p:cNvSpPr/>
          <p:nvPr/>
        </p:nvSpPr>
        <p:spPr>
          <a:xfrm>
            <a:off x="6455664" y="3813048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72160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4 canaux : TV · Radio · Social Media · Influenceur</a:t>
            </a:r>
          </a:p>
        </p:txBody>
      </p:sp>
      <p:sp>
        <p:nvSpPr>
          <p:cNvPr id="30" name="Oval 29"/>
          <p:cNvSpPr/>
          <p:nvPr/>
        </p:nvSpPr>
        <p:spPr>
          <a:xfrm>
            <a:off x="6455664" y="4526280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44348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R² &gt; 0.994 — corrélation quasi-parfaite avec les ventes</a:t>
            </a:r>
          </a:p>
        </p:txBody>
      </p:sp>
      <p:sp>
        <p:nvSpPr>
          <p:cNvPr id="32" name="Oval 31"/>
          <p:cNvSpPr/>
          <p:nvPr/>
        </p:nvSpPr>
        <p:spPr>
          <a:xfrm>
            <a:off x="6455664" y="5239512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51480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Simulation live : le revenu s'affiche instantanément</a:t>
            </a:r>
          </a:p>
        </p:txBody>
      </p:sp>
      <p:sp>
        <p:nvSpPr>
          <p:cNvPr id="34" name="Oval 33"/>
          <p:cNvSpPr/>
          <p:nvPr/>
        </p:nvSpPr>
        <p:spPr>
          <a:xfrm>
            <a:off x="5797296" y="3712464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Quatre ambitions concrètes, de la donnée brute à la décision business éclairée.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394960" cy="22677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4008" cy="22677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344168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36245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Prédire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" y="1847088"/>
            <a:ext cx="5157216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956816"/>
            <a:ext cx="513892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Construire 4 modèles ML capables de prédire le chiffre d'affaires
à partir du mix budgétaire TV · Radio · Social Media · Influenceur.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188720"/>
            <a:ext cx="5394960" cy="22677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188720"/>
            <a:ext cx="64008" cy="22677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952" y="1344168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36245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Comparer &amp; Sélectionner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1847088"/>
            <a:ext cx="5157216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956816"/>
            <a:ext cx="513892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Évaluer chaque modèle via validation croisée 5 plis (R², MAE, RMSE)
et sélectionner automatiquement le plus performant.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11880"/>
            <a:ext cx="5394960" cy="22677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11880"/>
            <a:ext cx="64008" cy="22677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767328"/>
            <a:ext cx="420624" cy="42062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78561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Exposer via API 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" y="4270248"/>
            <a:ext cx="5157216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379976"/>
            <a:ext cx="513892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Déployer les modèles entraînés via une API FastAPI scalable,
interrogeable en temps réel par n'importe quel client.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611880"/>
            <a:ext cx="5394960" cy="22677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3611880"/>
            <a:ext cx="64008" cy="22677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73952" y="376732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78561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Visualiser &amp; Décider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55664" y="4270248"/>
            <a:ext cx="5157216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379976"/>
            <a:ext cx="513892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Proposer un dashboard interactif en 7 pages permettant
de simuler, comparer et optimiser les allocations budgétaires.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Architecture de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Cinq couches modulaires — de la donnée brute à la décision business.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311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37160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824" y="1280160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data/Dummy Data HSS.csv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0824" y="1645920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4 572 lignes · TV, Radio, Social Media, Influencer,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011680"/>
            <a:ext cx="365760" cy="50167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Segoe U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66544"/>
            <a:ext cx="1118311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66544"/>
            <a:ext cx="1371600" cy="822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0824" y="215798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src/preprocessing.py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0824" y="2523744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StandardScaler + OneHotEncoder · Pipeline sklearn · Imputation médiane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889504"/>
            <a:ext cx="365760" cy="50167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Segoe U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44368"/>
            <a:ext cx="1118311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44368"/>
            <a:ext cx="137160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ENTRAÎNEMENT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0824" y="3035808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src/train.py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0824" y="3401568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RandomizedSearchCV · 15 iter · 5-fold CV · 4 algorithmes → .pkl (joblib)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767328"/>
            <a:ext cx="365760" cy="50167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22192"/>
            <a:ext cx="1118311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22192"/>
            <a:ext cx="13716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API 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824" y="3913632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api/main.py — 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0824" y="4279392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/predict · /predict/all · /metrics · /feature-importance · /stats · /health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645152"/>
            <a:ext cx="365760" cy="5016764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Segoe U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00016"/>
            <a:ext cx="1118311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700016"/>
            <a:ext cx="137160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0824" y="4791456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172A"/>
                </a:solidFill>
                <a:latin typeface="Segoe UI"/>
              </a:rPr>
              <a:t>dashboard-next/ — Next.js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20824" y="5157216"/>
            <a:ext cx="9509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TypeScript · Tailwind CSS · Recharts · Framer Motion · 7 pages · Clair/Sombre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614416"/>
            <a:ext cx="11183112" cy="365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⚡  docker-compose up  —  API :8000  ·  Dashboard :3000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Pipeline ML : de la donnée brute à la prédiction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Un pipeline rigoureusement validé — de la saisie brute à l'inférence en moins de 50 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664208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664208" cy="594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" y="1709928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5856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Segoe UI"/>
              </a:rPr>
              <a:t>load_data()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715768"/>
            <a:ext cx="151790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CSV · 4 572 lignes
Validation schéma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856" y="32461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1600200"/>
            <a:ext cx="1664208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50592" y="1600200"/>
            <a:ext cx="166420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72384" y="1709928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25856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Segoe UI"/>
              </a:rPr>
              <a:t>build_preprocessor()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2715768"/>
            <a:ext cx="151790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StandardScaler
+ OneHotEncoder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2461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1600200"/>
            <a:ext cx="1664208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8264" y="1600200"/>
            <a:ext cx="166420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0056" y="1709928"/>
            <a:ext cx="420624" cy="42062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225856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Segoe UI"/>
              </a:rPr>
              <a:t>tune()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715768"/>
            <a:ext cx="151790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RandomizedSearchCV
15 iter · 5-fold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2461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1600200"/>
            <a:ext cx="1664208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45936" y="1600200"/>
            <a:ext cx="166420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67728" y="170992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25856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Segoe UI"/>
              </a:rPr>
              <a:t>train_all()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715768"/>
            <a:ext cx="151790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4 modèles .pkl
splits.pkl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32461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3608" y="1600200"/>
            <a:ext cx="1664208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93608" y="1600200"/>
            <a:ext cx="1664208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15400" y="1709928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25856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Segoe UI"/>
              </a:rPr>
              <a:t>FastAPI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715768"/>
            <a:ext cx="151790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Lifespan loading
&lt; 50ms / req.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544" y="32461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1600200"/>
            <a:ext cx="1664208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41280" y="1600200"/>
            <a:ext cx="1664208" cy="594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63072" y="1709928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4432" y="2258568"/>
            <a:ext cx="15179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2715768"/>
            <a:ext cx="151790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Sliders → API
Temps réel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989320"/>
            <a:ext cx="11183112" cy="457200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40AF"/>
                </a:solidFill>
                <a:latin typeface="Segoe UI"/>
              </a:rPr>
              <a:t>🔒  models/splits.pkl garantit la reproductibilité : métriques toujours calculées sur le même jeu de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Les 4 modèles ML — Performances comparées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Tous les modèles dépassent R² = 0.99 — le Random Forest s'impose comme référence.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630936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1673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Modèle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31673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R² moyen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31673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Éc.-type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316736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Statut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82496"/>
            <a:ext cx="6309360" cy="475488"/>
          </a:xfrm>
          <a:prstGeom prst="rect">
            <a:avLst/>
          </a:prstGeom>
          <a:solidFill>
            <a:srgbClr val="DBEA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7393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🏆 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7393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82F6"/>
                </a:solidFill>
                <a:latin typeface="Segoe UI"/>
              </a:rPr>
              <a:t>0.9965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77393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±0.0028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773936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BEST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57984"/>
            <a:ext cx="6309360" cy="475488"/>
          </a:xfrm>
          <a:prstGeom prst="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49424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Gradient 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49424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0.9964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24942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±0.0028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249424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33472"/>
            <a:ext cx="6309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724912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Régression Linéaire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724912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0.9956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72491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±0.0032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724912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08960"/>
            <a:ext cx="6309360" cy="475488"/>
          </a:xfrm>
          <a:prstGeom prst="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20040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Segoe UI"/>
              </a:rPr>
              <a:t>MLP Neural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2004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0.9941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20040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±0.0034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200400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1207008"/>
            <a:ext cx="5212080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3350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Segoe UI"/>
              </a:rPr>
              <a:t>R² par modèle  —  échelle 0.990 → 1.000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8470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Segoe UI"/>
              </a:rPr>
              <a:t>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1828800"/>
            <a:ext cx="33375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0" y="1828800"/>
            <a:ext cx="2169414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3566" y="1828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Segoe UI"/>
              </a:rPr>
              <a:t>0.9965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688336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Segoe UI"/>
              </a:rPr>
              <a:t>Grad. Boosting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2670048"/>
            <a:ext cx="33375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01000" y="2670048"/>
            <a:ext cx="2136038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10190" y="26700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Segoe UI"/>
              </a:rPr>
              <a:t>0.9964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529584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Segoe UI"/>
              </a:rPr>
              <a:t>Régression Lin.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3511296"/>
            <a:ext cx="33375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01000" y="3511296"/>
            <a:ext cx="1869033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43185" y="351129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Segoe UI"/>
              </a:rPr>
              <a:t>0.9956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3708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Segoe UI"/>
              </a:rPr>
              <a:t>MLP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4352544"/>
            <a:ext cx="333756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01000" y="4352544"/>
            <a:ext cx="1368399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2551" y="435254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366F1"/>
                </a:solidFill>
                <a:latin typeface="Segoe UI"/>
              </a:rPr>
              <a:t>0.9941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687568"/>
            <a:ext cx="11183112" cy="68580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8338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40AF"/>
                </a:solidFill>
                <a:latin typeface="Segoe UI"/>
              </a:rPr>
              <a:t>🏆  Meilleur modèle : Random Forest  —  R² = 0.9965  ·  Explique 99.65 % de la variance des ventes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Dashboard — 7 pages d'intelligence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De la prédiction brute à l'optimisation stratégique — chaque page répond à une question business précise.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2724912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2724912" cy="594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Segoe U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353312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Accueil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01368"/>
            <a:ext cx="245059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92808"/>
            <a:ext cx="24505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Vue globale · KPIs · corrélation canaux · benchmark revenus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2320" y="1207008"/>
            <a:ext cx="2724912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2320" y="1207008"/>
            <a:ext cx="2724912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Segoe U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9248" y="1353312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Prévision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9480" y="1801368"/>
            <a:ext cx="245059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9480" y="1892808"/>
            <a:ext cx="24505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Sliders · prédiction temps réel · ROI · consensus 4 modèles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1720" y="1207008"/>
            <a:ext cx="2724912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1720" y="1207008"/>
            <a:ext cx="2724912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880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Segoe UI"/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8648" y="1353312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Optimiseur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8880" y="1801368"/>
            <a:ext cx="245059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8880" y="1892808"/>
            <a:ext cx="24505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Présets · sensibilité TV · comparaison des modèles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207008"/>
            <a:ext cx="2724912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207008"/>
            <a:ext cx="2724912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298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Segoe UI"/>
              </a:rPr>
              <a:t>🗺️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1353312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Planificateur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1801368"/>
            <a:ext cx="245059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892808"/>
            <a:ext cx="245059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Objectif → budget optimal · inversion modèle · Monte Carlo RF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822191"/>
            <a:ext cx="3456432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822191"/>
            <a:ext cx="3456432" cy="5943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1363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Segoe UI"/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3968495"/>
            <a:ext cx="2798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Comparaison 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16551"/>
            <a:ext cx="318211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07991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Métriques · diagramme radar · matrice de confusion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6260" y="3822191"/>
            <a:ext cx="3456432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66260" y="3822191"/>
            <a:ext cx="3456432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3420" y="391363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Segoe UI"/>
              </a:rPr>
              <a:t>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3188" y="3968495"/>
            <a:ext cx="2798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Insights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3420" y="4416551"/>
            <a:ext cx="318211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3420" y="4507991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Importance features · corrélation · ROI par influenceur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822191"/>
            <a:ext cx="3456432" cy="2468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822191"/>
            <a:ext cx="3456432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913631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Segoe UI"/>
              </a:rPr>
              <a:t>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3968495"/>
            <a:ext cx="27980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Feature Importan.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4416551"/>
            <a:ext cx="318211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6760" y="4507991"/>
            <a:ext cx="31821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Classement SHAP · permutation importance · stats canal-revenu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4748B"/>
                </a:solidFill>
                <a:latin typeface="Segoe UI"/>
              </a:rPr>
              <a:t>http://localhost:3000  ·  docker-compose 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Démonstration — du budget au ROI en temps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Cas réel : 90M€ TV · 10M€ Radio · 2M€ Social Media · Influenceur Mega.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3566160" cy="5212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3566160" cy="685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335024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Ajuster les sliders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9656"/>
            <a:ext cx="3291840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956816"/>
            <a:ext cx="3236976" cy="12344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" y="1956816"/>
            <a:ext cx="50292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TV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70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Segoe UI"/>
              </a:rPr>
              <a:t>90M€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" y="3282696"/>
            <a:ext cx="3236976" cy="12344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3282696"/>
            <a:ext cx="50292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37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Radio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Segoe UI"/>
              </a:rPr>
              <a:t>10M€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4608576"/>
            <a:ext cx="3236976" cy="12344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4608576"/>
            <a:ext cx="50292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Social 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22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Segoe UI"/>
              </a:rPr>
              <a:t>2M€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5980176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Interface Framer Motion · sans clic requis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7096" y="3493008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1207008"/>
            <a:ext cx="3566160" cy="5212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98264" y="1207008"/>
            <a:ext cx="3566160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81144" y="1335024"/>
            <a:ext cx="420624" cy="42062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Prédiction &lt; 50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5424" y="1819656"/>
            <a:ext cx="3291840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62856" y="1956816"/>
            <a:ext cx="3236976" cy="12344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62856" y="1956816"/>
            <a:ext cx="5029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8304" y="2011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Revenue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8304" y="2770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Segoe UI"/>
              </a:rPr>
              <a:t>$12.4M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62856" y="3282696"/>
            <a:ext cx="3236976" cy="12344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62856" y="3282696"/>
            <a:ext cx="5029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8304" y="3337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ROI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18304" y="4096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Segoe UI"/>
              </a:rPr>
              <a:t>+1140%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2856" y="4608576"/>
            <a:ext cx="3236976" cy="12344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62856" y="4608576"/>
            <a:ext cx="50292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18304" y="4663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Efficacité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18304" y="5422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Segoe UI"/>
              </a:rPr>
              <a:t>11.2×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2856" y="5980176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Random Forest via API · ROI · efficacité · classe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493008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Segoe UI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93608" y="1207008"/>
            <a:ext cx="3566160" cy="5212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93608" y="1207008"/>
            <a:ext cx="3566160" cy="685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76488" y="1335024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43416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Analyser &amp; Optimiser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0768" y="1819656"/>
            <a:ext cx="3291840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458200" y="1956816"/>
            <a:ext cx="3236976" cy="10058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58200" y="1956816"/>
            <a:ext cx="50292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13648" y="2011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Rand. Forest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13648" y="2542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Segoe UI"/>
              </a:rPr>
              <a:t>0.9965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58200" y="3054096"/>
            <a:ext cx="3236976" cy="10058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58200" y="3054096"/>
            <a:ext cx="50292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13648" y="3108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Grad. Boost.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3648" y="3639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Segoe UI"/>
              </a:rPr>
              <a:t>0.9964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58200" y="4151376"/>
            <a:ext cx="3236976" cy="10058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58200" y="4151376"/>
            <a:ext cx="5029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13648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Lin. Reg.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4736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Segoe UI"/>
              </a:rPr>
              <a:t>0.9956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58200" y="5248656"/>
            <a:ext cx="3236976" cy="1005840"/>
          </a:xfrm>
          <a:prstGeom prst="roundRect">
            <a:avLst/>
          </a:prstGeom>
          <a:solidFill>
            <a:srgbClr val="F8FA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58200" y="5248656"/>
            <a:ext cx="50292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13648" y="5303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MLP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13648" y="5833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366F1"/>
                </a:solidFill>
                <a:latin typeface="Segoe UI"/>
              </a:rPr>
              <a:t>0.9941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5980176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4 modèles comparés · Planificateur budgétaire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Bilan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Un système performant et démontrable aujourd'hui, avec une trajectoire claire d'amélioration.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42415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639312" cy="5212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39312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64008" cy="5212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💪  Forces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55648"/>
            <a:ext cx="336499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202082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8366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R² &gt; 0.99 sur les 4 modèles — prédictions ultra-précises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275234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6151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Architecture modulaire et Docker-ready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348386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34670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API REST documentée et scalable (FastAPI)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421538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7822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Dashboard : 7 pages, mode clair/sombre, responsive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" y="494690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80974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Pipeline sklearn reproductible (splits.pkl, joblib)</a:t>
            </a:r>
          </a:p>
        </p:txBody>
      </p:sp>
      <p:sp>
        <p:nvSpPr>
          <p:cNvPr id="21" name="Oval 20"/>
          <p:cNvSpPr/>
          <p:nvPr/>
        </p:nvSpPr>
        <p:spPr>
          <a:xfrm>
            <a:off x="704088" y="567842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54126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Déployable : docker-compose 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1188720"/>
            <a:ext cx="3639312" cy="5212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1188720"/>
            <a:ext cx="363931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1188720"/>
            <a:ext cx="64008" cy="5212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⚠️  Limites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1755648"/>
            <a:ext cx="336499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202082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188366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Dataset synthétique — à valider sur données réelles</a:t>
            </a:r>
          </a:p>
        </p:txBody>
      </p:sp>
      <p:sp>
        <p:nvSpPr>
          <p:cNvPr id="30" name="Oval 29"/>
          <p:cNvSpPr/>
          <p:nvPr/>
        </p:nvSpPr>
        <p:spPr>
          <a:xfrm>
            <a:off x="4590288" y="275234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3168" y="26151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Pas de feedback ni de ré-entraînement automatique</a:t>
            </a:r>
          </a:p>
        </p:txBody>
      </p:sp>
      <p:sp>
        <p:nvSpPr>
          <p:cNvPr id="32" name="Oval 31"/>
          <p:cNvSpPr/>
          <p:nvPr/>
        </p:nvSpPr>
        <p:spPr>
          <a:xfrm>
            <a:off x="4590288" y="348386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3168" y="334670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Saisonnalité et tendances non modélisées</a:t>
            </a:r>
          </a:p>
        </p:txBody>
      </p:sp>
      <p:sp>
        <p:nvSpPr>
          <p:cNvPr id="34" name="Oval 33"/>
          <p:cNvSpPr/>
          <p:nvPr/>
        </p:nvSpPr>
        <p:spPr>
          <a:xfrm>
            <a:off x="4590288" y="421538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73168" y="407822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Influencer : variable catégorielle simple</a:t>
            </a:r>
          </a:p>
        </p:txBody>
      </p:sp>
      <p:sp>
        <p:nvSpPr>
          <p:cNvPr id="36" name="Oval 35"/>
          <p:cNvSpPr/>
          <p:nvPr/>
        </p:nvSpPr>
        <p:spPr>
          <a:xfrm>
            <a:off x="4590288" y="494690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480974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Pas d'authentification sur l'API publique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1188720"/>
            <a:ext cx="3639312" cy="5212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20" y="1188720"/>
            <a:ext cx="363931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20" y="1188720"/>
            <a:ext cx="64008" cy="5212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1298448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Segoe UI"/>
              </a:rPr>
              <a:t>🚀  Perspectives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1755648"/>
            <a:ext cx="3364992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76488" y="202082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59368" y="188366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Intégration APIs réelles (Google Ads, Meta Ads)</a:t>
            </a:r>
          </a:p>
        </p:txBody>
      </p:sp>
      <p:sp>
        <p:nvSpPr>
          <p:cNvPr id="45" name="Oval 44"/>
          <p:cNvSpPr/>
          <p:nvPr/>
        </p:nvSpPr>
        <p:spPr>
          <a:xfrm>
            <a:off x="8476488" y="275234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9368" y="261518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Modèles de séries temporelles (Prophet, LSTM)</a:t>
            </a:r>
          </a:p>
        </p:txBody>
      </p:sp>
      <p:sp>
        <p:nvSpPr>
          <p:cNvPr id="47" name="Oval 46"/>
          <p:cNvSpPr/>
          <p:nvPr/>
        </p:nvSpPr>
        <p:spPr>
          <a:xfrm>
            <a:off x="8476488" y="348386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9368" y="334670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Ré-entraînement automatique (MLOps, Airflow)</a:t>
            </a:r>
          </a:p>
        </p:txBody>
      </p:sp>
      <p:sp>
        <p:nvSpPr>
          <p:cNvPr id="49" name="Oval 48"/>
          <p:cNvSpPr/>
          <p:nvPr/>
        </p:nvSpPr>
        <p:spPr>
          <a:xfrm>
            <a:off x="8476488" y="421538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59368" y="407822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Attribution multi-touch (Shapley values)</a:t>
            </a:r>
          </a:p>
        </p:txBody>
      </p:sp>
      <p:sp>
        <p:nvSpPr>
          <p:cNvPr id="51" name="Oval 50"/>
          <p:cNvSpPr/>
          <p:nvPr/>
        </p:nvSpPr>
        <p:spPr>
          <a:xfrm>
            <a:off x="8476488" y="494690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9368" y="480974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155"/>
                </a:solidFill>
                <a:latin typeface="Segoe UI"/>
              </a:rPr>
              <a:t>Déploiement cloud : GCP / AWS + auto-scaling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F172A"/>
                </a:solidFill>
                <a:latin typeface="Segoe U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777240"/>
            <a:ext cx="11183112" cy="777240"/>
          </a:xfrm>
          <a:prstGeom prst="roundRect">
            <a:avLst/>
          </a:prstGeom>
          <a:solidFill>
            <a:srgbClr val="DBEAFE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7824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E40AF"/>
                </a:solidFill>
                <a:latin typeface="Segoe UI"/>
              </a:rPr>
              <a:t>ROI Intelligence démontre qu'il est possible de transformer un budget publicitaire
en décision data-driven — précise, explicable et actionnable.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3538728" cy="2331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53872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9019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19293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32304"/>
            <a:ext cx="3264408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32644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Quatre modèles ML avec R² &gt; 0.994, évalués par validation croisée et sélectionnés via RandomizedSearchCV.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737360"/>
            <a:ext cx="3538728" cy="2331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7" y="1737360"/>
            <a:ext cx="353872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7" y="1901952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Segoe UI"/>
              </a:rPr>
              <a:t>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1" y="19293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Scalabilité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44567" y="2432304"/>
            <a:ext cx="3264408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7" y="2560320"/>
            <a:ext cx="32644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Architecture Docker-ready : API FastAPI indépendante du frontend, extensible à de nouveaux canaux.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1894" y="1737360"/>
            <a:ext cx="3538728" cy="2331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11894" y="1737360"/>
            <a:ext cx="353872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4774" y="190195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78" y="19293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Explicabilité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9054" y="2432304"/>
            <a:ext cx="3264408" cy="12801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4" y="2560320"/>
            <a:ext cx="32644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Dashboard 7 pages : importance des features, sensibilité par canal, planification inverse — tout est justifié.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51960"/>
            <a:ext cx="11183112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8912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  <a:latin typeface="Segoe UI"/>
              </a:rPr>
              <a:t>Merci pour votre attention.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3776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Nous sommes disponibles pour répondre à vos questions.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0936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Segoe UI"/>
              </a:rPr>
              <a:t>CHUEMBOU ADRIEN · QUANG DAT  —  EFREI Paris · M1 Data Science &amp; IA ·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